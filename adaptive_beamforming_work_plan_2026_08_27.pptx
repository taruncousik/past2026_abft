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A8C6"/>
          </a:solidFill>
          <a:ln w="12700">
            <a:solidFill>
              <a:srgbClr val="00A8C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5216" y="713232"/>
            <a:ext cx="1280160" cy="0"/>
          </a:xfrm>
          <a:prstGeom prst="line">
            <a:avLst/>
          </a:prstGeom>
          <a:noFill/>
          <a:ln w="38100">
            <a:solidFill>
              <a:srgbClr val="00A8C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320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spc="200" kern="0" dirty="0">
                <a:solidFill>
                  <a:srgbClr val="00A8C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TEAM WORK PLAN</a:t>
            </a:r>
            <a:endParaRPr lang="en-US" sz="920" dirty="0"/>
          </a:p>
        </p:txBody>
      </p:sp>
      <p:sp>
        <p:nvSpPr>
          <p:cNvPr id="5" name="Text 3"/>
          <p:cNvSpPr/>
          <p:nvPr/>
        </p:nvSpPr>
        <p:spPr>
          <a:xfrm>
            <a:off x="612648" y="1005840"/>
            <a:ext cx="507492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50" b="1" dirty="0">
                <a:solidFill>
                  <a:srgbClr val="102A4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Adaptive Beamforming</a:t>
            </a:r>
            <a:endParaRPr lang="en-US" sz="3150" dirty="0"/>
          </a:p>
          <a:p>
            <a:pPr indent="0" marL="0">
              <a:buNone/>
            </a:pPr>
            <a:r>
              <a:rPr lang="en-US" sz="3150" b="1" dirty="0">
                <a:solidFill>
                  <a:srgbClr val="102A4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Made Practical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621792" y="2523744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6678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Guided Classroom Experience with Real Time Classroom Experiments</a:t>
            </a:r>
            <a:endParaRPr lang="en-US" sz="1720" dirty="0"/>
          </a:p>
        </p:txBody>
      </p:sp>
      <p:sp>
        <p:nvSpPr>
          <p:cNvPr id="7" name="Text 5"/>
          <p:cNvSpPr/>
          <p:nvPr/>
        </p:nvSpPr>
        <p:spPr>
          <a:xfrm>
            <a:off x="621792" y="345643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231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Jon Kraft   •   Tarun Cousik   •   Mark Yeary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" y="3959352"/>
            <a:ext cx="2423160" cy="310896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396849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Thursday, October 22, 2026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72968" y="3959352"/>
            <a:ext cx="2468880" cy="310896"/>
          </a:xfrm>
          <a:prstGeom prst="roundRect">
            <a:avLst/>
          </a:prstGeom>
          <a:solidFill>
            <a:srgbClr val="F6F9FB"/>
          </a:solidFill>
          <a:ln w="12700">
            <a:solidFill>
              <a:srgbClr val="F6F9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72968" y="39684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678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Planning review • August 27, 2026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21792" y="486460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A9B7C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Affiliation / logo space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" y="5212080"/>
            <a:ext cx="138988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9F0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5212080"/>
            <a:ext cx="1389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A9B7C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LOGO 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12848" y="5212080"/>
            <a:ext cx="138988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9F0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12848" y="5212080"/>
            <a:ext cx="1389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A9B7C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LOGO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03904" y="5212080"/>
            <a:ext cx="138988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9F0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03904" y="5212080"/>
            <a:ext cx="1389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A9B7C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LOGO 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44768" y="475488"/>
            <a:ext cx="5532120" cy="5833872"/>
          </a:xfrm>
          <a:prstGeom prst="roundRect">
            <a:avLst>
              <a:gd name="adj" fmla="val 3636"/>
            </a:avLst>
          </a:prstGeom>
          <a:solidFill>
            <a:srgbClr val="F6F9FB"/>
          </a:solidFill>
          <a:ln w="12700">
            <a:solidFill>
              <a:srgbClr val="E9F0F5"/>
            </a:solidFill>
            <a:prstDash val="solid"/>
          </a:ln>
          <a:effectLst>
            <a:outerShdw sx="100000" sy="100000" kx="0" ky="0" algn="bl" rotWithShape="0" blurRad="19050" dist="7620" dir="2700000">
              <a:srgbClr val="000000">
                <a:alpha val="12000"/>
              </a:srgbClr>
            </a:outerShdw>
          </a:effectLst>
        </p:spPr>
      </p:sp>
      <p:pic>
        <p:nvPicPr>
          <p:cNvPr id="20" name="Image 0" descr="/mnt/data/a_clean_technical_3d_isometric_angled_illustration.png">    </p:cNvPr>
          <p:cNvPicPr>
            <a:picLocks noChangeAspect="1"/>
          </p:cNvPicPr>
          <p:nvPr/>
        </p:nvPicPr>
        <p:blipFill>
          <a:blip r:embed="rId1"/>
          <a:srcRect l="18373" r="18373" t="0" b="0"/>
          <a:stretch/>
        </p:blipFill>
        <p:spPr>
          <a:xfrm>
            <a:off x="6199632" y="530352"/>
            <a:ext cx="5422392" cy="57150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419088" y="5843016"/>
            <a:ext cx="4873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6678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Phased array  →  data  →  adaptive weights</a:t>
            </a:r>
            <a:endParaRPr lang="en-US" sz="10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02A4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Proposed learning arc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630936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spc="180" kern="0" dirty="0">
                <a:solidFill>
                  <a:srgbClr val="00A8C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NARRATIVE</a:t>
            </a:r>
            <a:endParaRPr lang="en-US" sz="860" dirty="0"/>
          </a:p>
        </p:txBody>
      </p:sp>
      <p:sp>
        <p:nvSpPr>
          <p:cNvPr id="4" name="Shape 2"/>
          <p:cNvSpPr/>
          <p:nvPr/>
        </p:nvSpPr>
        <p:spPr>
          <a:xfrm>
            <a:off x="621792" y="932688"/>
            <a:ext cx="10927080" cy="0"/>
          </a:xfrm>
          <a:prstGeom prst="line">
            <a:avLst/>
          </a:prstGeom>
          <a:noFill/>
          <a:ln w="14605">
            <a:solidFill>
              <a:srgbClr val="E9F0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932688"/>
            <a:ext cx="1874520" cy="0"/>
          </a:xfrm>
          <a:prstGeom prst="line">
            <a:avLst/>
          </a:prstGeom>
          <a:noFill/>
          <a:ln w="31750">
            <a:solidFill>
              <a:srgbClr val="00A8C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0" y="576072"/>
            <a:ext cx="68580" cy="68580"/>
          </a:xfrm>
          <a:prstGeom prst="ellipse">
            <a:avLst/>
          </a:prstGeom>
          <a:solidFill>
            <a:srgbClr val="102A43">
              <a:alpha val="74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37776" y="576072"/>
            <a:ext cx="68580" cy="68580"/>
          </a:xfrm>
          <a:prstGeom prst="ellipse">
            <a:avLst/>
          </a:prstGeom>
          <a:solidFill>
            <a:srgbClr val="102A43">
              <a:alpha val="74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57232" y="576072"/>
            <a:ext cx="68580" cy="68580"/>
          </a:xfrm>
          <a:prstGeom prst="ellipse">
            <a:avLst/>
          </a:prstGeom>
          <a:solidFill>
            <a:srgbClr val="102A43">
              <a:alpha val="74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76688" y="576072"/>
            <a:ext cx="68580" cy="68580"/>
          </a:xfrm>
          <a:prstGeom prst="ellipse">
            <a:avLst/>
          </a:prstGeom>
          <a:solidFill>
            <a:srgbClr val="102A43">
              <a:alpha val="74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96144" y="576072"/>
            <a:ext cx="68580" cy="68580"/>
          </a:xfrm>
          <a:prstGeom prst="ellipse">
            <a:avLst/>
          </a:prstGeom>
          <a:solidFill>
            <a:srgbClr val="102A43">
              <a:alpha val="74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0" y="576072"/>
            <a:ext cx="68580" cy="68580"/>
          </a:xfrm>
          <a:prstGeom prst="ellipse">
            <a:avLst/>
          </a:prstGeom>
          <a:solidFill>
            <a:srgbClr val="00A8C6"/>
          </a:solidFill>
          <a:ln w="12700">
            <a:solidFill>
              <a:srgbClr val="00A8C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35056" y="576072"/>
            <a:ext cx="68580" cy="68580"/>
          </a:xfrm>
          <a:prstGeom prst="ellipse">
            <a:avLst/>
          </a:prstGeom>
          <a:solidFill>
            <a:srgbClr val="102A43">
              <a:alpha val="74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54512" y="576072"/>
            <a:ext cx="68580" cy="68580"/>
          </a:xfrm>
          <a:prstGeom prst="ellipse">
            <a:avLst/>
          </a:prstGeom>
          <a:solidFill>
            <a:srgbClr val="102A43">
              <a:alpha val="74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52176" y="612648"/>
            <a:ext cx="1234440" cy="-329184"/>
          </a:xfrm>
          <a:prstGeom prst="line">
            <a:avLst/>
          </a:prstGeom>
          <a:noFill/>
          <a:ln w="21590">
            <a:solidFill>
              <a:srgbClr val="00A8C6">
                <a:alpha val="8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12471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9B7C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1792" y="647395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A9B7C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Adaptive Beamforming Made Practical</a:t>
            </a:r>
            <a:endParaRPr lang="en-US" sz="830" dirty="0"/>
          </a:p>
        </p:txBody>
      </p:sp>
      <p:sp>
        <p:nvSpPr>
          <p:cNvPr id="17" name="Text 15"/>
          <p:cNvSpPr/>
          <p:nvPr/>
        </p:nvSpPr>
        <p:spPr>
          <a:xfrm>
            <a:off x="621792" y="1097280"/>
            <a:ext cx="10698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60" dirty="0">
                <a:solidFill>
                  <a:srgbClr val="6678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Build one continuous story from physical intuition to adaptive interference suppression.</a:t>
            </a:r>
            <a:endParaRPr lang="en-US" sz="1560" dirty="0"/>
          </a:p>
        </p:txBody>
      </p:sp>
      <p:sp>
        <p:nvSpPr>
          <p:cNvPr id="18" name="Shape 16"/>
          <p:cNvSpPr/>
          <p:nvPr/>
        </p:nvSpPr>
        <p:spPr>
          <a:xfrm>
            <a:off x="640080" y="1755648"/>
            <a:ext cx="2468880" cy="3429000"/>
          </a:xfrm>
          <a:prstGeom prst="roundRect">
            <a:avLst>
              <a:gd name="adj" fmla="val 4815"/>
            </a:avLst>
          </a:prstGeom>
          <a:solidFill>
            <a:srgbClr val="FFFFFF"/>
          </a:solidFill>
          <a:ln w="12700">
            <a:solidFill>
              <a:srgbClr val="E9F0F5"/>
            </a:solidFill>
            <a:prstDash val="solid"/>
          </a:ln>
          <a:effectLst>
            <a:outerShdw sx="100000" sy="100000" kx="0" ky="0" algn="bl" rotWithShape="0" blurRad="241935000" dist="96774000" dir="162000000000">
              <a:srgbClr val="000000">
                <a:alpha val="120000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1755648"/>
            <a:ext cx="246888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9536" y="2359152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33272" y="2359152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07008" y="2359152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80744" y="2359152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54480" y="2359152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28216" y="2359152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01952" y="2359152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89888" y="2404872"/>
            <a:ext cx="868680" cy="-320040"/>
          </a:xfrm>
          <a:prstGeom prst="line">
            <a:avLst/>
          </a:prstGeom>
          <a:noFill/>
          <a:ln w="25400">
            <a:solidFill>
              <a:srgbClr val="00A8C6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859536" y="278892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 Array intuition</a:t>
            </a:r>
            <a:endParaRPr lang="en-US" sz="1520" dirty="0"/>
          </a:p>
        </p:txBody>
      </p:sp>
      <p:sp>
        <p:nvSpPr>
          <p:cNvPr id="29" name="Text 27"/>
          <p:cNvSpPr/>
          <p:nvPr/>
        </p:nvSpPr>
        <p:spPr>
          <a:xfrm>
            <a:off x="868680" y="3273552"/>
            <a:ext cx="19933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60" dirty="0">
                <a:solidFill>
                  <a:srgbClr val="2231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Array as a linear combiner</a:t>
            </a:r>
            <a:endParaRPr lang="en-US" sz="1260" dirty="0"/>
          </a:p>
          <a:p>
            <a:pPr marL="165100" indent="-165100">
              <a:buSzPct val="100000"/>
              <a:buChar char="•"/>
            </a:pPr>
            <a:r>
              <a:rPr lang="en-US" sz="1260" dirty="0">
                <a:solidFill>
                  <a:srgbClr val="2231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Linear array formula</a:t>
            </a:r>
            <a:endParaRPr lang="en-US" sz="1260" dirty="0"/>
          </a:p>
          <a:p>
            <a:pPr marL="165100" indent="-165100">
              <a:buSzPct val="100000"/>
              <a:buChar char="•"/>
            </a:pPr>
            <a:r>
              <a:rPr lang="en-US" sz="1260" dirty="0">
                <a:solidFill>
                  <a:srgbClr val="2231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Cartesian, polar, u domain</a:t>
            </a:r>
            <a:endParaRPr lang="en-US" sz="1260" dirty="0"/>
          </a:p>
        </p:txBody>
      </p:sp>
      <p:sp>
        <p:nvSpPr>
          <p:cNvPr id="30" name="Shape 28"/>
          <p:cNvSpPr/>
          <p:nvPr/>
        </p:nvSpPr>
        <p:spPr>
          <a:xfrm>
            <a:off x="3172968" y="3163824"/>
            <a:ext cx="210312" cy="429768"/>
          </a:xfrm>
          <a:prstGeom prst="chevron">
            <a:avLst/>
          </a:prstGeom>
          <a:solidFill>
            <a:srgbClr val="A9B7C5">
              <a:alpha val="72000"/>
            </a:srgbClr>
          </a:solidFill>
          <a:ln w="12700">
            <a:solidFill>
              <a:srgbClr val="A9B7C5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65576" y="1755648"/>
            <a:ext cx="2468880" cy="3429000"/>
          </a:xfrm>
          <a:prstGeom prst="roundRect">
            <a:avLst>
              <a:gd name="adj" fmla="val 4815"/>
            </a:avLst>
          </a:prstGeom>
          <a:solidFill>
            <a:srgbClr val="FFFFFF"/>
          </a:solidFill>
          <a:ln w="12700">
            <a:solidFill>
              <a:srgbClr val="E9F0F5"/>
            </a:solidFill>
            <a:prstDash val="solid"/>
          </a:ln>
          <a:effectLst>
            <a:outerShdw sx="100000" sy="100000" kx="0" ky="0" algn="bl" rotWithShape="0" blurRad="3072574500000" dist="1229029800000" dir="9720000000000000">
              <a:srgbClr val="000000">
                <a:alpha val="12000000000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465576" y="1755648"/>
            <a:ext cx="2468880" cy="73152"/>
          </a:xfrm>
          <a:prstGeom prst="rect">
            <a:avLst/>
          </a:prstGeom>
          <a:solidFill>
            <a:srgbClr val="1D8A83"/>
          </a:solidFill>
          <a:ln w="12700">
            <a:solidFill>
              <a:srgbClr val="1D8A8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85032" y="2048256"/>
            <a:ext cx="128016" cy="128016"/>
          </a:xfrm>
          <a:prstGeom prst="rect">
            <a:avLst/>
          </a:prstGeom>
          <a:solidFill>
            <a:srgbClr val="1565C0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86200" y="2048256"/>
            <a:ext cx="128016" cy="128016"/>
          </a:xfrm>
          <a:prstGeom prst="rect">
            <a:avLst/>
          </a:prstGeom>
          <a:solidFill>
            <a:srgbClr val="00A8C6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087368" y="2048256"/>
            <a:ext cx="128016" cy="128016"/>
          </a:xfrm>
          <a:prstGeom prst="rect">
            <a:avLst/>
          </a:prstGeom>
          <a:solidFill>
            <a:srgbClr val="1565C0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88536" y="2048256"/>
            <a:ext cx="128016" cy="128016"/>
          </a:xfrm>
          <a:prstGeom prst="rect">
            <a:avLst/>
          </a:prstGeom>
          <a:solidFill>
            <a:srgbClr val="00A8C6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85032" y="2249424"/>
            <a:ext cx="128016" cy="128016"/>
          </a:xfrm>
          <a:prstGeom prst="rect">
            <a:avLst/>
          </a:prstGeom>
          <a:solidFill>
            <a:srgbClr val="00A8C6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886200" y="2249424"/>
            <a:ext cx="128016" cy="128016"/>
          </a:xfrm>
          <a:prstGeom prst="rect">
            <a:avLst/>
          </a:prstGeom>
          <a:solidFill>
            <a:srgbClr val="1565C0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087368" y="2249424"/>
            <a:ext cx="128016" cy="128016"/>
          </a:xfrm>
          <a:prstGeom prst="rect">
            <a:avLst/>
          </a:prstGeom>
          <a:solidFill>
            <a:srgbClr val="00A8C6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288536" y="2249424"/>
            <a:ext cx="128016" cy="128016"/>
          </a:xfrm>
          <a:prstGeom prst="rect">
            <a:avLst/>
          </a:prstGeom>
          <a:solidFill>
            <a:srgbClr val="1565C0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85032" y="2450592"/>
            <a:ext cx="128016" cy="128016"/>
          </a:xfrm>
          <a:prstGeom prst="rect">
            <a:avLst/>
          </a:prstGeom>
          <a:solidFill>
            <a:srgbClr val="1565C0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886200" y="2450592"/>
            <a:ext cx="128016" cy="128016"/>
          </a:xfrm>
          <a:prstGeom prst="rect">
            <a:avLst/>
          </a:prstGeom>
          <a:solidFill>
            <a:srgbClr val="00A8C6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087368" y="2450592"/>
            <a:ext cx="128016" cy="128016"/>
          </a:xfrm>
          <a:prstGeom prst="rect">
            <a:avLst/>
          </a:prstGeom>
          <a:solidFill>
            <a:srgbClr val="1565C0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288536" y="2450592"/>
            <a:ext cx="128016" cy="128016"/>
          </a:xfrm>
          <a:prstGeom prst="rect">
            <a:avLst/>
          </a:prstGeom>
          <a:solidFill>
            <a:srgbClr val="00A8C6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85032" y="278892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 Data structure</a:t>
            </a:r>
            <a:endParaRPr lang="en-US" sz="1520" dirty="0"/>
          </a:p>
        </p:txBody>
      </p:sp>
      <p:sp>
        <p:nvSpPr>
          <p:cNvPr id="46" name="Text 44"/>
          <p:cNvSpPr/>
          <p:nvPr/>
        </p:nvSpPr>
        <p:spPr>
          <a:xfrm>
            <a:off x="3694176" y="3273552"/>
            <a:ext cx="19933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60" dirty="0">
                <a:solidFill>
                  <a:srgbClr val="2231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Digital channels become vectors</a:t>
            </a:r>
            <a:endParaRPr lang="en-US" sz="1260" dirty="0"/>
          </a:p>
          <a:p>
            <a:pPr marL="165100" indent="-165100">
              <a:buSzPct val="100000"/>
              <a:buChar char="•"/>
            </a:pPr>
            <a:r>
              <a:rPr lang="en-US" sz="1260" dirty="0">
                <a:solidFill>
                  <a:srgbClr val="2231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Matrices organize snapshots</a:t>
            </a:r>
            <a:endParaRPr lang="en-US" sz="1260" dirty="0"/>
          </a:p>
          <a:p>
            <a:pPr marL="165100" indent="-165100">
              <a:buSzPct val="100000"/>
              <a:buChar char="•"/>
            </a:pPr>
            <a:r>
              <a:rPr lang="en-US" sz="1260" dirty="0">
                <a:solidFill>
                  <a:srgbClr val="2231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Dot products are the core operation</a:t>
            </a:r>
            <a:endParaRPr lang="en-US" sz="1260" dirty="0"/>
          </a:p>
        </p:txBody>
      </p:sp>
      <p:sp>
        <p:nvSpPr>
          <p:cNvPr id="47" name="Shape 45"/>
          <p:cNvSpPr/>
          <p:nvPr/>
        </p:nvSpPr>
        <p:spPr>
          <a:xfrm>
            <a:off x="5998464" y="3163824"/>
            <a:ext cx="210312" cy="429768"/>
          </a:xfrm>
          <a:prstGeom prst="chevron">
            <a:avLst/>
          </a:prstGeom>
          <a:solidFill>
            <a:srgbClr val="A9B7C5">
              <a:alpha val="72000"/>
            </a:srgbClr>
          </a:solidFill>
          <a:ln w="12700">
            <a:solidFill>
              <a:srgbClr val="A9B7C5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91072" y="1755648"/>
            <a:ext cx="2468880" cy="3429000"/>
          </a:xfrm>
          <a:prstGeom prst="roundRect">
            <a:avLst>
              <a:gd name="adj" fmla="val 4815"/>
            </a:avLst>
          </a:prstGeom>
          <a:solidFill>
            <a:srgbClr val="FFFFFF"/>
          </a:solidFill>
          <a:ln w="12700">
            <a:solidFill>
              <a:srgbClr val="E9F0F5"/>
            </a:solidFill>
            <a:prstDash val="solid"/>
          </a:ln>
          <a:effectLst>
            <a:outerShdw sx="100000" sy="100000" kx="0" ky="0" algn="bl" rotWithShape="0" blurRad="39021696150000000" dist="15608678460000000" dir="583200000000000000000">
              <a:srgbClr val="000000">
                <a:alpha val="1200000000000000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291072" y="1755648"/>
            <a:ext cx="2468880" cy="73152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510528" y="2350008"/>
            <a:ext cx="28738" cy="-74055"/>
          </a:xfrm>
          <a:prstGeom prst="line">
            <a:avLst/>
          </a:prstGeom>
          <a:noFill/>
          <a:ln w="21590">
            <a:solidFill>
              <a:srgbClr val="1565C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539266" y="2275953"/>
            <a:ext cx="28738" cy="-63654"/>
          </a:xfrm>
          <a:prstGeom prst="line">
            <a:avLst/>
          </a:prstGeom>
          <a:noFill/>
          <a:ln w="21590">
            <a:solidFill>
              <a:srgbClr val="1565C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568005" y="2212299"/>
            <a:ext cx="28738" cy="-44313"/>
          </a:xfrm>
          <a:prstGeom prst="line">
            <a:avLst/>
          </a:prstGeom>
          <a:noFill/>
          <a:ln w="21590">
            <a:solidFill>
              <a:srgbClr val="1565C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596743" y="2167986"/>
            <a:ext cx="28738" cy="-18749"/>
          </a:xfrm>
          <a:prstGeom prst="line">
            <a:avLst/>
          </a:prstGeom>
          <a:noFill/>
          <a:ln w="21590">
            <a:solidFill>
              <a:srgbClr val="1565C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625481" y="2149237"/>
            <a:ext cx="28738" cy="9449"/>
          </a:xfrm>
          <a:prstGeom prst="line">
            <a:avLst/>
          </a:prstGeom>
          <a:noFill/>
          <a:ln w="21590">
            <a:solidFill>
              <a:srgbClr val="1565C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654219" y="2158686"/>
            <a:ext cx="28738" cy="36320"/>
          </a:xfrm>
          <a:prstGeom prst="line">
            <a:avLst/>
          </a:prstGeom>
          <a:noFill/>
          <a:ln w="21590">
            <a:solidFill>
              <a:srgbClr val="1565C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682958" y="2195005"/>
            <a:ext cx="28738" cy="58089"/>
          </a:xfrm>
          <a:prstGeom prst="line">
            <a:avLst/>
          </a:prstGeom>
          <a:noFill/>
          <a:ln w="21590">
            <a:solidFill>
              <a:srgbClr val="1565C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711696" y="2253095"/>
            <a:ext cx="28738" cy="71700"/>
          </a:xfrm>
          <a:prstGeom prst="line">
            <a:avLst/>
          </a:prstGeom>
          <a:noFill/>
          <a:ln w="21590">
            <a:solidFill>
              <a:srgbClr val="1565C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740434" y="2324795"/>
            <a:ext cx="28738" cy="75241"/>
          </a:xfrm>
          <a:prstGeom prst="line">
            <a:avLst/>
          </a:prstGeom>
          <a:noFill/>
          <a:ln w="21590">
            <a:solidFill>
              <a:srgbClr val="1565C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769173" y="2400036"/>
            <a:ext cx="28738" cy="68215"/>
          </a:xfrm>
          <a:prstGeom prst="line">
            <a:avLst/>
          </a:prstGeom>
          <a:noFill/>
          <a:ln w="21590">
            <a:solidFill>
              <a:srgbClr val="1565C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797911" y="2468252"/>
            <a:ext cx="28738" cy="51608"/>
          </a:xfrm>
          <a:prstGeom prst="line">
            <a:avLst/>
          </a:prstGeom>
          <a:noFill/>
          <a:ln w="21590">
            <a:solidFill>
              <a:srgbClr val="1565C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826649" y="2519860"/>
            <a:ext cx="28738" cy="27753"/>
          </a:xfrm>
          <a:prstGeom prst="line">
            <a:avLst/>
          </a:prstGeom>
          <a:noFill/>
          <a:ln w="21590">
            <a:solidFill>
              <a:srgbClr val="1565C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855387" y="2547613"/>
            <a:ext cx="28738" cy="0"/>
          </a:xfrm>
          <a:prstGeom prst="line">
            <a:avLst/>
          </a:prstGeom>
          <a:noFill/>
          <a:ln w="21590">
            <a:solidFill>
              <a:srgbClr val="1565C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884126" y="2547613"/>
            <a:ext cx="28738" cy="-27753"/>
          </a:xfrm>
          <a:prstGeom prst="line">
            <a:avLst/>
          </a:prstGeom>
          <a:noFill/>
          <a:ln w="21590">
            <a:solidFill>
              <a:srgbClr val="1565C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912864" y="2519860"/>
            <a:ext cx="28738" cy="-51608"/>
          </a:xfrm>
          <a:prstGeom prst="line">
            <a:avLst/>
          </a:prstGeom>
          <a:noFill/>
          <a:ln w="21590">
            <a:solidFill>
              <a:srgbClr val="1565C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941602" y="2468252"/>
            <a:ext cx="28738" cy="-68215"/>
          </a:xfrm>
          <a:prstGeom prst="line">
            <a:avLst/>
          </a:prstGeom>
          <a:noFill/>
          <a:ln w="21590">
            <a:solidFill>
              <a:srgbClr val="1565C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970341" y="2400036"/>
            <a:ext cx="28738" cy="-75241"/>
          </a:xfrm>
          <a:prstGeom prst="line">
            <a:avLst/>
          </a:prstGeom>
          <a:noFill/>
          <a:ln w="21590">
            <a:solidFill>
              <a:srgbClr val="1565C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999079" y="2324795"/>
            <a:ext cx="28738" cy="-71700"/>
          </a:xfrm>
          <a:prstGeom prst="line">
            <a:avLst/>
          </a:prstGeom>
          <a:noFill/>
          <a:ln w="21590">
            <a:solidFill>
              <a:srgbClr val="1565C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027817" y="2253095"/>
            <a:ext cx="28738" cy="-58089"/>
          </a:xfrm>
          <a:prstGeom prst="line">
            <a:avLst/>
          </a:prstGeom>
          <a:noFill/>
          <a:ln w="21590">
            <a:solidFill>
              <a:srgbClr val="1565C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056555" y="2195005"/>
            <a:ext cx="28738" cy="-36320"/>
          </a:xfrm>
          <a:prstGeom prst="line">
            <a:avLst/>
          </a:prstGeom>
          <a:noFill/>
          <a:ln w="21590">
            <a:solidFill>
              <a:srgbClr val="1565C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085294" y="2158686"/>
            <a:ext cx="28738" cy="-9449"/>
          </a:xfrm>
          <a:prstGeom prst="line">
            <a:avLst/>
          </a:prstGeom>
          <a:noFill/>
          <a:ln w="21590">
            <a:solidFill>
              <a:srgbClr val="1565C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114032" y="2149237"/>
            <a:ext cx="28738" cy="18749"/>
          </a:xfrm>
          <a:prstGeom prst="line">
            <a:avLst/>
          </a:prstGeom>
          <a:noFill/>
          <a:ln w="21590">
            <a:solidFill>
              <a:srgbClr val="1565C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142770" y="2167986"/>
            <a:ext cx="28738" cy="44313"/>
          </a:xfrm>
          <a:prstGeom prst="line">
            <a:avLst/>
          </a:prstGeom>
          <a:noFill/>
          <a:ln w="21590">
            <a:solidFill>
              <a:srgbClr val="1565C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171509" y="2212299"/>
            <a:ext cx="28738" cy="63654"/>
          </a:xfrm>
          <a:prstGeom prst="line">
            <a:avLst/>
          </a:prstGeom>
          <a:noFill/>
          <a:ln w="21590">
            <a:solidFill>
              <a:srgbClr val="1565C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200247" y="2275953"/>
            <a:ext cx="28738" cy="74055"/>
          </a:xfrm>
          <a:prstGeom prst="line">
            <a:avLst/>
          </a:prstGeom>
          <a:noFill/>
          <a:ln w="21590">
            <a:solidFill>
              <a:srgbClr val="1565C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228985" y="2350008"/>
            <a:ext cx="28738" cy="74055"/>
          </a:xfrm>
          <a:prstGeom prst="line">
            <a:avLst/>
          </a:prstGeom>
          <a:noFill/>
          <a:ln w="21590">
            <a:solidFill>
              <a:srgbClr val="1565C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257723" y="2424063"/>
            <a:ext cx="28738" cy="63654"/>
          </a:xfrm>
          <a:prstGeom prst="line">
            <a:avLst/>
          </a:prstGeom>
          <a:noFill/>
          <a:ln w="21590">
            <a:solidFill>
              <a:srgbClr val="1565C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286462" y="2487717"/>
            <a:ext cx="28738" cy="44313"/>
          </a:xfrm>
          <a:prstGeom prst="line">
            <a:avLst/>
          </a:prstGeom>
          <a:noFill/>
          <a:ln w="21590">
            <a:solidFill>
              <a:srgbClr val="1565C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315200" y="2532030"/>
            <a:ext cx="28738" cy="18749"/>
          </a:xfrm>
          <a:prstGeom prst="line">
            <a:avLst/>
          </a:prstGeom>
          <a:noFill/>
          <a:ln w="21590">
            <a:solidFill>
              <a:srgbClr val="1565C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343938" y="2550779"/>
            <a:ext cx="28738" cy="-9449"/>
          </a:xfrm>
          <a:prstGeom prst="line">
            <a:avLst/>
          </a:prstGeom>
          <a:noFill/>
          <a:ln w="21590">
            <a:solidFill>
              <a:srgbClr val="1565C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372677" y="2541330"/>
            <a:ext cx="28738" cy="-36320"/>
          </a:xfrm>
          <a:prstGeom prst="line">
            <a:avLst/>
          </a:prstGeom>
          <a:noFill/>
          <a:ln w="21590">
            <a:solidFill>
              <a:srgbClr val="1565C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401415" y="2505011"/>
            <a:ext cx="28738" cy="-58089"/>
          </a:xfrm>
          <a:prstGeom prst="line">
            <a:avLst/>
          </a:prstGeom>
          <a:noFill/>
          <a:ln w="21590">
            <a:solidFill>
              <a:srgbClr val="1565C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430153" y="2446921"/>
            <a:ext cx="28738" cy="-71700"/>
          </a:xfrm>
          <a:prstGeom prst="line">
            <a:avLst/>
          </a:prstGeom>
          <a:noFill/>
          <a:ln w="21590">
            <a:solidFill>
              <a:srgbClr val="1565C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458891" y="2375221"/>
            <a:ext cx="28738" cy="-75241"/>
          </a:xfrm>
          <a:prstGeom prst="line">
            <a:avLst/>
          </a:prstGeom>
          <a:noFill/>
          <a:ln w="21590">
            <a:solidFill>
              <a:srgbClr val="1565C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487630" y="2299980"/>
            <a:ext cx="28738" cy="-68215"/>
          </a:xfrm>
          <a:prstGeom prst="line">
            <a:avLst/>
          </a:prstGeom>
          <a:noFill/>
          <a:ln w="21590">
            <a:solidFill>
              <a:srgbClr val="1565C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680960" y="2121408"/>
            <a:ext cx="0" cy="475488"/>
          </a:xfrm>
          <a:prstGeom prst="line">
            <a:avLst/>
          </a:prstGeom>
          <a:noFill/>
          <a:ln w="27940">
            <a:solidFill>
              <a:srgbClr val="00A8C6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863840" y="2212848"/>
            <a:ext cx="0" cy="384048"/>
          </a:xfrm>
          <a:prstGeom prst="line">
            <a:avLst/>
          </a:prstGeom>
          <a:noFill/>
          <a:ln w="27940">
            <a:solidFill>
              <a:srgbClr val="00A8C6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046720" y="2331720"/>
            <a:ext cx="0" cy="265176"/>
          </a:xfrm>
          <a:prstGeom prst="line">
            <a:avLst/>
          </a:prstGeom>
          <a:noFill/>
          <a:ln w="27940">
            <a:solidFill>
              <a:srgbClr val="00A8C6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510528" y="278892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  Fourier viewpoint</a:t>
            </a:r>
            <a:endParaRPr lang="en-US" sz="1520" dirty="0"/>
          </a:p>
        </p:txBody>
      </p:sp>
      <p:sp>
        <p:nvSpPr>
          <p:cNvPr id="89" name="Text 87"/>
          <p:cNvSpPr/>
          <p:nvPr/>
        </p:nvSpPr>
        <p:spPr>
          <a:xfrm>
            <a:off x="6519672" y="3273552"/>
            <a:ext cx="19933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60" dirty="0">
                <a:solidFill>
                  <a:srgbClr val="2231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Time and space Fourier Transform</a:t>
            </a:r>
            <a:endParaRPr lang="en-US" sz="1260" dirty="0"/>
          </a:p>
          <a:p>
            <a:pPr marL="165100" indent="-165100">
              <a:buSzPct val="100000"/>
              <a:buChar char="•"/>
            </a:pPr>
            <a:r>
              <a:rPr lang="en-US" sz="1260" dirty="0">
                <a:solidFill>
                  <a:srgbClr val="2231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Meaning of the complex exponential</a:t>
            </a:r>
            <a:endParaRPr lang="en-US" sz="1260" dirty="0"/>
          </a:p>
          <a:p>
            <a:pPr marL="165100" indent="-165100">
              <a:buSzPct val="100000"/>
              <a:buChar char="•"/>
            </a:pPr>
            <a:r>
              <a:rPr lang="en-US" sz="1260" dirty="0">
                <a:solidFill>
                  <a:srgbClr val="2231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Array factor is a spatial transform</a:t>
            </a:r>
            <a:endParaRPr lang="en-US" sz="1260" dirty="0"/>
          </a:p>
        </p:txBody>
      </p:sp>
      <p:sp>
        <p:nvSpPr>
          <p:cNvPr id="90" name="Shape 88"/>
          <p:cNvSpPr/>
          <p:nvPr/>
        </p:nvSpPr>
        <p:spPr>
          <a:xfrm>
            <a:off x="8823960" y="3163824"/>
            <a:ext cx="210312" cy="429768"/>
          </a:xfrm>
          <a:prstGeom prst="chevron">
            <a:avLst/>
          </a:prstGeom>
          <a:solidFill>
            <a:srgbClr val="A9B7C5">
              <a:alpha val="72000"/>
            </a:srgbClr>
          </a:solidFill>
          <a:ln w="12700">
            <a:solidFill>
              <a:srgbClr val="A9B7C5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116568" y="1755648"/>
            <a:ext cx="2468880" cy="3429000"/>
          </a:xfrm>
          <a:prstGeom prst="roundRect">
            <a:avLst>
              <a:gd name="adj" fmla="val 4815"/>
            </a:avLst>
          </a:prstGeom>
          <a:solidFill>
            <a:srgbClr val="FFFFFF"/>
          </a:solidFill>
          <a:ln w="12700">
            <a:solidFill>
              <a:srgbClr val="E9F0F5"/>
            </a:solidFill>
            <a:prstDash val="solid"/>
          </a:ln>
          <a:effectLst>
            <a:outerShdw sx="100000" sy="100000" kx="0" ky="0" algn="bl" rotWithShape="0" blurRad="495575541105000000000" dist="198230216442000000000" dir="3.4992e+25">
              <a:srgbClr val="000000">
                <a:alpha val="1.2e+24"/>
              </a:srgbClr>
            </a:outerShdw>
          </a:effectLst>
        </p:spPr>
      </p:sp>
      <p:sp>
        <p:nvSpPr>
          <p:cNvPr id="92" name="Shape 90"/>
          <p:cNvSpPr/>
          <p:nvPr/>
        </p:nvSpPr>
        <p:spPr>
          <a:xfrm>
            <a:off x="9116568" y="1755648"/>
            <a:ext cx="2468880" cy="73152"/>
          </a:xfrm>
          <a:prstGeom prst="rect">
            <a:avLst/>
          </a:prstGeom>
          <a:solidFill>
            <a:srgbClr val="E24A33"/>
          </a:solidFill>
          <a:ln w="12700">
            <a:solidFill>
              <a:srgbClr val="E24A33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9336024" y="2048256"/>
            <a:ext cx="1005840" cy="64008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9848088" y="2478024"/>
            <a:ext cx="512064" cy="-301752"/>
          </a:xfrm>
          <a:prstGeom prst="line">
            <a:avLst/>
          </a:prstGeom>
          <a:noFill/>
          <a:ln w="25400">
            <a:solidFill>
              <a:srgbClr val="00A8C6"/>
            </a:solidFill>
            <a:prstDash val="solid"/>
            <a:tailEnd type="triangle"/>
          </a:ln>
        </p:spPr>
      </p:sp>
      <p:sp>
        <p:nvSpPr>
          <p:cNvPr id="95" name="Shape 93"/>
          <p:cNvSpPr/>
          <p:nvPr/>
        </p:nvSpPr>
        <p:spPr>
          <a:xfrm>
            <a:off x="10094976" y="2066544"/>
            <a:ext cx="164592" cy="164592"/>
          </a:xfrm>
          <a:prstGeom prst="line">
            <a:avLst/>
          </a:prstGeom>
          <a:noFill/>
          <a:ln w="30480">
            <a:solidFill>
              <a:srgbClr val="E24A33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0259568" y="2066544"/>
            <a:ext cx="-164592" cy="164592"/>
          </a:xfrm>
          <a:prstGeom prst="line">
            <a:avLst/>
          </a:prstGeom>
          <a:noFill/>
          <a:ln w="30480">
            <a:solidFill>
              <a:srgbClr val="E24A33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9336024" y="278892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  Why adapt?</a:t>
            </a:r>
            <a:endParaRPr lang="en-US" sz="1520" dirty="0"/>
          </a:p>
        </p:txBody>
      </p:sp>
      <p:sp>
        <p:nvSpPr>
          <p:cNvPr id="98" name="Text 96"/>
          <p:cNvSpPr/>
          <p:nvPr/>
        </p:nvSpPr>
        <p:spPr>
          <a:xfrm>
            <a:off x="9345168" y="3273552"/>
            <a:ext cx="19933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60" dirty="0">
                <a:solidFill>
                  <a:srgbClr val="2231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Windowing and sidelobe tradeoffs</a:t>
            </a:r>
            <a:endParaRPr lang="en-US" sz="1260" dirty="0"/>
          </a:p>
          <a:p>
            <a:pPr marL="165100" indent="-165100">
              <a:buSzPct val="100000"/>
              <a:buChar char="•"/>
            </a:pPr>
            <a:r>
              <a:rPr lang="en-US" sz="1260" dirty="0">
                <a:solidFill>
                  <a:srgbClr val="2231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Interference can move or be adversarial</a:t>
            </a:r>
            <a:endParaRPr lang="en-US" sz="1260" dirty="0"/>
          </a:p>
          <a:p>
            <a:pPr marL="165100" indent="-165100">
              <a:buSzPct val="100000"/>
              <a:buChar char="•"/>
            </a:pPr>
            <a:r>
              <a:rPr lang="en-US" sz="1260" dirty="0">
                <a:solidFill>
                  <a:srgbClr val="2231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 data to place and track nulls</a:t>
            </a:r>
            <a:endParaRPr lang="en-US" sz="1260" dirty="0"/>
          </a:p>
        </p:txBody>
      </p:sp>
      <p:sp>
        <p:nvSpPr>
          <p:cNvPr id="99" name="Shape 97"/>
          <p:cNvSpPr/>
          <p:nvPr/>
        </p:nvSpPr>
        <p:spPr>
          <a:xfrm>
            <a:off x="640080" y="5449824"/>
            <a:ext cx="10917936" cy="658368"/>
          </a:xfrm>
          <a:prstGeom prst="roundRect">
            <a:avLst>
              <a:gd name="adj" fmla="val 16667"/>
            </a:avLst>
          </a:prstGeom>
          <a:solidFill>
            <a:srgbClr val="F6F9FB"/>
          </a:solidFill>
          <a:ln w="12700">
            <a:solidFill>
              <a:srgbClr val="E9F0F5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59536" y="557784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A8C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Design rule</a:t>
            </a:r>
            <a:endParaRPr lang="en-US" sz="1100" dirty="0"/>
          </a:p>
        </p:txBody>
      </p:sp>
      <p:sp>
        <p:nvSpPr>
          <p:cNvPr id="101" name="Text 99"/>
          <p:cNvSpPr/>
          <p:nvPr/>
        </p:nvSpPr>
        <p:spPr>
          <a:xfrm>
            <a:off x="1847088" y="5522976"/>
            <a:ext cx="9345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2231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Every major algorithm should end in a guided lab that reuses the same data model, notation, and plots.</a:t>
            </a:r>
            <a:endParaRPr lang="en-US" sz="14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02A4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Detailed content map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630936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spc="180" kern="0" dirty="0">
                <a:solidFill>
                  <a:srgbClr val="00A8C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SCOPE</a:t>
            </a:r>
            <a:endParaRPr lang="en-US" sz="860" dirty="0"/>
          </a:p>
        </p:txBody>
      </p:sp>
      <p:sp>
        <p:nvSpPr>
          <p:cNvPr id="4" name="Shape 2"/>
          <p:cNvSpPr/>
          <p:nvPr/>
        </p:nvSpPr>
        <p:spPr>
          <a:xfrm>
            <a:off x="621792" y="932688"/>
            <a:ext cx="10927080" cy="0"/>
          </a:xfrm>
          <a:prstGeom prst="line">
            <a:avLst/>
          </a:prstGeom>
          <a:noFill/>
          <a:ln w="14605">
            <a:solidFill>
              <a:srgbClr val="E9F0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932688"/>
            <a:ext cx="1874520" cy="0"/>
          </a:xfrm>
          <a:prstGeom prst="line">
            <a:avLst/>
          </a:prstGeom>
          <a:noFill/>
          <a:ln w="31750">
            <a:solidFill>
              <a:srgbClr val="00A8C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0" y="576072"/>
            <a:ext cx="68580" cy="68580"/>
          </a:xfrm>
          <a:prstGeom prst="ellipse">
            <a:avLst/>
          </a:prstGeom>
          <a:solidFill>
            <a:srgbClr val="102A43">
              <a:alpha val="74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37776" y="576072"/>
            <a:ext cx="68580" cy="68580"/>
          </a:xfrm>
          <a:prstGeom prst="ellipse">
            <a:avLst/>
          </a:prstGeom>
          <a:solidFill>
            <a:srgbClr val="102A43">
              <a:alpha val="74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57232" y="576072"/>
            <a:ext cx="68580" cy="68580"/>
          </a:xfrm>
          <a:prstGeom prst="ellipse">
            <a:avLst/>
          </a:prstGeom>
          <a:solidFill>
            <a:srgbClr val="102A43">
              <a:alpha val="74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76688" y="576072"/>
            <a:ext cx="68580" cy="68580"/>
          </a:xfrm>
          <a:prstGeom prst="ellipse">
            <a:avLst/>
          </a:prstGeom>
          <a:solidFill>
            <a:srgbClr val="102A43">
              <a:alpha val="74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96144" y="576072"/>
            <a:ext cx="68580" cy="68580"/>
          </a:xfrm>
          <a:prstGeom prst="ellipse">
            <a:avLst/>
          </a:prstGeom>
          <a:solidFill>
            <a:srgbClr val="102A43">
              <a:alpha val="74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0" y="576072"/>
            <a:ext cx="68580" cy="68580"/>
          </a:xfrm>
          <a:prstGeom prst="ellipse">
            <a:avLst/>
          </a:prstGeom>
          <a:solidFill>
            <a:srgbClr val="00A8C6"/>
          </a:solidFill>
          <a:ln w="12700">
            <a:solidFill>
              <a:srgbClr val="00A8C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35056" y="576072"/>
            <a:ext cx="68580" cy="68580"/>
          </a:xfrm>
          <a:prstGeom prst="ellipse">
            <a:avLst/>
          </a:prstGeom>
          <a:solidFill>
            <a:srgbClr val="102A43">
              <a:alpha val="74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54512" y="576072"/>
            <a:ext cx="68580" cy="68580"/>
          </a:xfrm>
          <a:prstGeom prst="ellipse">
            <a:avLst/>
          </a:prstGeom>
          <a:solidFill>
            <a:srgbClr val="102A43">
              <a:alpha val="74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52176" y="612648"/>
            <a:ext cx="1234440" cy="-329184"/>
          </a:xfrm>
          <a:prstGeom prst="line">
            <a:avLst/>
          </a:prstGeom>
          <a:noFill/>
          <a:ln w="21590">
            <a:solidFill>
              <a:srgbClr val="00A8C6">
                <a:alpha val="8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12471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9B7C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1792" y="647395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A9B7C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Adaptive Beamforming Made Practical</a:t>
            </a:r>
            <a:endParaRPr lang="en-US" sz="830" dirty="0"/>
          </a:p>
        </p:txBody>
      </p:sp>
      <p:sp>
        <p:nvSpPr>
          <p:cNvPr id="17" name="Text 15"/>
          <p:cNvSpPr/>
          <p:nvPr/>
        </p:nvSpPr>
        <p:spPr>
          <a:xfrm>
            <a:off x="621792" y="109728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78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outline below is intentionally ordered by the learner’s mental model, not by algorithm taxonomy.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1792" y="1664208"/>
            <a:ext cx="2487168" cy="4315968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E9F0F5"/>
            </a:solidFill>
            <a:prstDash val="solid"/>
          </a:ln>
          <a:effectLst>
            <a:outerShdw sx="100000" sy="100000" kx="0" ky="0" algn="bl" rotWithShape="0" blurRad="6.2938093720335e+24" dist="2.5175237488134e+24" dir="2.09952e+30">
              <a:srgbClr val="000000">
                <a:alpha val="1.2e+29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2960" y="1920240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565C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822960" y="230428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Arrays and patterns</a:t>
            </a:r>
            <a:endParaRPr lang="en-US" sz="1520" dirty="0"/>
          </a:p>
        </p:txBody>
      </p:sp>
      <p:sp>
        <p:nvSpPr>
          <p:cNvPr id="21" name="Shape 19"/>
          <p:cNvSpPr/>
          <p:nvPr/>
        </p:nvSpPr>
        <p:spPr>
          <a:xfrm>
            <a:off x="822960" y="2990088"/>
            <a:ext cx="1975104" cy="0"/>
          </a:xfrm>
          <a:prstGeom prst="line">
            <a:avLst/>
          </a:prstGeom>
          <a:noFill/>
          <a:ln w="25400">
            <a:solidFill>
              <a:srgbClr val="1565C0">
                <a:alpha val="8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3182112"/>
            <a:ext cx="2002536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190" dirty="0">
                <a:solidFill>
                  <a:srgbClr val="2231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Array as a linear combiner</a:t>
            </a:r>
            <a:endParaRPr lang="en-US" sz="1190" dirty="0"/>
          </a:p>
          <a:p>
            <a:pPr marL="165100" indent="-165100">
              <a:buSzPct val="100000"/>
              <a:buChar char="•"/>
            </a:pPr>
            <a:r>
              <a:rPr lang="en-US" sz="1190" dirty="0">
                <a:solidFill>
                  <a:srgbClr val="2231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Uniform linear array formula</a:t>
            </a:r>
            <a:endParaRPr lang="en-US" sz="1190" dirty="0"/>
          </a:p>
          <a:p>
            <a:pPr marL="165100" indent="-165100">
              <a:buSzPct val="100000"/>
              <a:buChar char="•"/>
            </a:pPr>
            <a:r>
              <a:rPr lang="en-US" sz="1190" dirty="0">
                <a:solidFill>
                  <a:srgbClr val="2231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Beam steering and array factor</a:t>
            </a:r>
            <a:endParaRPr lang="en-US" sz="1190" dirty="0"/>
          </a:p>
          <a:p>
            <a:pPr marL="165100" indent="-165100">
              <a:buSzPct val="100000"/>
              <a:buChar char="•"/>
            </a:pPr>
            <a:r>
              <a:rPr lang="en-US" sz="1190" dirty="0">
                <a:solidFill>
                  <a:srgbClr val="2231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Cartesian and polar plots</a:t>
            </a:r>
            <a:endParaRPr lang="en-US" sz="1190" dirty="0"/>
          </a:p>
          <a:p>
            <a:pPr marL="165100" indent="-165100">
              <a:buSzPct val="100000"/>
              <a:buChar char="•"/>
            </a:pPr>
            <a:r>
              <a:rPr lang="en-US" sz="1190" dirty="0">
                <a:solidFill>
                  <a:srgbClr val="2231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 domain representation</a:t>
            </a:r>
            <a:endParaRPr lang="en-US" sz="1190" dirty="0"/>
          </a:p>
        </p:txBody>
      </p:sp>
      <p:sp>
        <p:nvSpPr>
          <p:cNvPr id="23" name="Shape 21"/>
          <p:cNvSpPr/>
          <p:nvPr/>
        </p:nvSpPr>
        <p:spPr>
          <a:xfrm>
            <a:off x="3456432" y="1664208"/>
            <a:ext cx="2487168" cy="4315968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E9F0F5"/>
            </a:solidFill>
            <a:prstDash val="solid"/>
          </a:ln>
          <a:effectLst>
            <a:outerShdw sx="100000" sy="100000" kx="0" ky="0" algn="bl" rotWithShape="0" blurRad="7.993137902482545e+28" dist="3.1972551609930183e+28" dir="1.259712e+35">
              <a:srgbClr val="000000">
                <a:alpha val="1.2e+34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0" y="1920240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D8A8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3657600" y="230428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 and linear algebra</a:t>
            </a:r>
            <a:endParaRPr lang="en-US" sz="1520" dirty="0"/>
          </a:p>
        </p:txBody>
      </p:sp>
      <p:sp>
        <p:nvSpPr>
          <p:cNvPr id="26" name="Shape 24"/>
          <p:cNvSpPr/>
          <p:nvPr/>
        </p:nvSpPr>
        <p:spPr>
          <a:xfrm>
            <a:off x="3657600" y="2990088"/>
            <a:ext cx="1975104" cy="0"/>
          </a:xfrm>
          <a:prstGeom prst="line">
            <a:avLst/>
          </a:prstGeom>
          <a:noFill/>
          <a:ln w="25400">
            <a:solidFill>
              <a:srgbClr val="1D8A83">
                <a:alpha val="8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0" y="3182112"/>
            <a:ext cx="2002536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190" dirty="0">
                <a:solidFill>
                  <a:srgbClr val="2231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Modern digital array data collection</a:t>
            </a:r>
            <a:endParaRPr lang="en-US" sz="1190" dirty="0"/>
          </a:p>
          <a:p>
            <a:pPr marL="165100" indent="-165100">
              <a:buSzPct val="100000"/>
              <a:buChar char="•"/>
            </a:pPr>
            <a:r>
              <a:rPr lang="en-US" sz="1190" dirty="0">
                <a:solidFill>
                  <a:srgbClr val="2231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Snapshots, vectors, matrices</a:t>
            </a:r>
            <a:endParaRPr lang="en-US" sz="1190" dirty="0"/>
          </a:p>
          <a:p>
            <a:pPr marL="165100" indent="-165100">
              <a:buSzPct val="100000"/>
              <a:buChar char="•"/>
            </a:pPr>
            <a:r>
              <a:rPr lang="en-US" sz="1190" dirty="0">
                <a:solidFill>
                  <a:srgbClr val="2231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Dot products and inner products</a:t>
            </a:r>
            <a:endParaRPr lang="en-US" sz="1190" dirty="0"/>
          </a:p>
          <a:p>
            <a:pPr marL="165100" indent="-165100">
              <a:buSzPct val="100000"/>
              <a:buChar char="•"/>
            </a:pPr>
            <a:r>
              <a:rPr lang="en-US" sz="1190" dirty="0">
                <a:solidFill>
                  <a:srgbClr val="2231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Fourier Transform in time and space</a:t>
            </a:r>
            <a:endParaRPr lang="en-US" sz="1190" dirty="0"/>
          </a:p>
          <a:p>
            <a:pPr marL="165100" indent="-165100">
              <a:buSzPct val="100000"/>
              <a:buChar char="•"/>
            </a:pPr>
            <a:r>
              <a:rPr lang="en-US" sz="1190" dirty="0">
                <a:solidFill>
                  <a:srgbClr val="2231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Complex exponential intuition</a:t>
            </a:r>
            <a:endParaRPr lang="en-US" sz="1190" dirty="0"/>
          </a:p>
          <a:p>
            <a:pPr marL="165100" indent="-165100">
              <a:buSzPct val="100000"/>
              <a:buChar char="•"/>
            </a:pPr>
            <a:r>
              <a:rPr lang="en-US" sz="1190" dirty="0">
                <a:solidFill>
                  <a:srgbClr val="2231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Array formula as a spatial Fourier transform</a:t>
            </a:r>
            <a:endParaRPr lang="en-US" sz="1190" dirty="0"/>
          </a:p>
          <a:p>
            <a:pPr marL="165100" indent="-165100">
              <a:buSzPct val="100000"/>
              <a:buChar char="•"/>
            </a:pPr>
            <a:r>
              <a:rPr lang="en-US" sz="1190" dirty="0">
                <a:solidFill>
                  <a:srgbClr val="2231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SINR, narrowband, wideband</a:t>
            </a:r>
            <a:endParaRPr lang="en-US" sz="1190" dirty="0"/>
          </a:p>
        </p:txBody>
      </p:sp>
      <p:sp>
        <p:nvSpPr>
          <p:cNvPr id="28" name="Shape 26"/>
          <p:cNvSpPr/>
          <p:nvPr/>
        </p:nvSpPr>
        <p:spPr>
          <a:xfrm>
            <a:off x="6291072" y="1664208"/>
            <a:ext cx="2487168" cy="4315968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E9F0F5"/>
            </a:solidFill>
            <a:prstDash val="solid"/>
          </a:ln>
          <a:effectLst>
            <a:outerShdw sx="100000" sy="100000" kx="0" ky="0" algn="bl" rotWithShape="0" blurRad="1.0151285136152831e+33" dist="4.060514054461133e+32" dir="7.558272e+39">
              <a:srgbClr val="000000">
                <a:alpha val="1.1999999999999999e+39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92240" y="1920240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C68A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6492240" y="230428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Fixed beamforming and limits</a:t>
            </a:r>
            <a:endParaRPr lang="en-US" sz="1520" dirty="0"/>
          </a:p>
        </p:txBody>
      </p:sp>
      <p:sp>
        <p:nvSpPr>
          <p:cNvPr id="31" name="Shape 29"/>
          <p:cNvSpPr/>
          <p:nvPr/>
        </p:nvSpPr>
        <p:spPr>
          <a:xfrm>
            <a:off x="6492240" y="2990088"/>
            <a:ext cx="1975104" cy="0"/>
          </a:xfrm>
          <a:prstGeom prst="line">
            <a:avLst/>
          </a:prstGeom>
          <a:noFill/>
          <a:ln w="25400">
            <a:solidFill>
              <a:srgbClr val="C68A17">
                <a:alpha val="8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3182112"/>
            <a:ext cx="2002536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190" dirty="0">
                <a:solidFill>
                  <a:srgbClr val="2231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Windowing and weighting</a:t>
            </a:r>
            <a:endParaRPr lang="en-US" sz="1190" dirty="0"/>
          </a:p>
          <a:p>
            <a:pPr marL="165100" indent="-165100">
              <a:buSzPct val="100000"/>
              <a:buChar char="•"/>
            </a:pPr>
            <a:r>
              <a:rPr lang="en-US" sz="1190" dirty="0">
                <a:solidFill>
                  <a:srgbClr val="2231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Mainlobe versus sidelobe tradeoffs</a:t>
            </a:r>
            <a:endParaRPr lang="en-US" sz="1190" dirty="0"/>
          </a:p>
          <a:p>
            <a:pPr marL="165100" indent="-165100">
              <a:buSzPct val="100000"/>
              <a:buChar char="•"/>
            </a:pPr>
            <a:r>
              <a:rPr lang="en-US" sz="1190" dirty="0">
                <a:solidFill>
                  <a:srgbClr val="2231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SINR consequences</a:t>
            </a:r>
            <a:endParaRPr lang="en-US" sz="1190" dirty="0"/>
          </a:p>
          <a:p>
            <a:pPr marL="165100" indent="-165100">
              <a:buSzPct val="100000"/>
              <a:buChar char="•"/>
            </a:pPr>
            <a:r>
              <a:rPr lang="en-US" sz="1190" dirty="0">
                <a:solidFill>
                  <a:srgbClr val="2231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Fixed base station example</a:t>
            </a:r>
            <a:endParaRPr lang="en-US" sz="1190" dirty="0"/>
          </a:p>
          <a:p>
            <a:pPr marL="165100" indent="-165100">
              <a:buSzPct val="100000"/>
              <a:buChar char="•"/>
            </a:pPr>
            <a:r>
              <a:rPr lang="en-US" sz="1190" dirty="0">
                <a:solidFill>
                  <a:srgbClr val="2231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Interference near a sidelobe</a:t>
            </a:r>
            <a:endParaRPr lang="en-US" sz="1190" dirty="0"/>
          </a:p>
          <a:p>
            <a:pPr marL="165100" indent="-165100">
              <a:buSzPct val="100000"/>
              <a:buChar char="•"/>
            </a:pPr>
            <a:r>
              <a:rPr lang="en-US" sz="1190" dirty="0">
                <a:solidFill>
                  <a:srgbClr val="2231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What fails when the scene is uncertain</a:t>
            </a:r>
            <a:endParaRPr lang="en-US" sz="1190" dirty="0"/>
          </a:p>
        </p:txBody>
      </p:sp>
      <p:sp>
        <p:nvSpPr>
          <p:cNvPr id="33" name="Shape 31"/>
          <p:cNvSpPr/>
          <p:nvPr/>
        </p:nvSpPr>
        <p:spPr>
          <a:xfrm>
            <a:off x="9125712" y="1664208"/>
            <a:ext cx="2487168" cy="4315968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E9F0F5"/>
            </a:solidFill>
            <a:prstDash val="solid"/>
          </a:ln>
          <a:effectLst>
            <a:outerShdw sx="100000" sy="100000" kx="0" ky="0" algn="bl" rotWithShape="0" blurRad="1.2892132122914095e+37" dist="5.156852849165639e+36" dir="4.5349632000000006e+44">
              <a:srgbClr val="000000">
                <a:alpha val="1.1999999999999999e+44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326880" y="1920240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E24A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9326880" y="230428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Adaptive beamforming</a:t>
            </a:r>
            <a:endParaRPr lang="en-US" sz="1520" dirty="0"/>
          </a:p>
        </p:txBody>
      </p:sp>
      <p:sp>
        <p:nvSpPr>
          <p:cNvPr id="36" name="Shape 34"/>
          <p:cNvSpPr/>
          <p:nvPr/>
        </p:nvSpPr>
        <p:spPr>
          <a:xfrm>
            <a:off x="9326880" y="2990088"/>
            <a:ext cx="1975104" cy="0"/>
          </a:xfrm>
          <a:prstGeom prst="line">
            <a:avLst/>
          </a:prstGeom>
          <a:noFill/>
          <a:ln w="25400">
            <a:solidFill>
              <a:srgbClr val="E24A33">
                <a:alpha val="8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26880" y="3182112"/>
            <a:ext cx="2002536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190" dirty="0">
                <a:solidFill>
                  <a:srgbClr val="2231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Intentional jammer motivation</a:t>
            </a:r>
            <a:endParaRPr lang="en-US" sz="1190" dirty="0"/>
          </a:p>
          <a:p>
            <a:pPr marL="165100" indent="-165100">
              <a:buSzPct val="100000"/>
              <a:buChar char="•"/>
            </a:pPr>
            <a:r>
              <a:rPr lang="en-US" sz="1190" dirty="0">
                <a:solidFill>
                  <a:srgbClr val="2231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 driven weights and nulling</a:t>
            </a:r>
            <a:endParaRPr lang="en-US" sz="1190" dirty="0"/>
          </a:p>
          <a:p>
            <a:pPr marL="165100" indent="-165100">
              <a:buSzPct val="100000"/>
              <a:buChar char="•"/>
            </a:pPr>
            <a:r>
              <a:rPr lang="en-US" sz="1190" dirty="0">
                <a:solidFill>
                  <a:srgbClr val="2231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MVDR and LCMV</a:t>
            </a:r>
            <a:endParaRPr lang="en-US" sz="1190" dirty="0"/>
          </a:p>
          <a:p>
            <a:pPr marL="165100" indent="-165100">
              <a:buSzPct val="100000"/>
              <a:buChar char="•"/>
            </a:pPr>
            <a:r>
              <a:rPr lang="en-US" sz="1190" dirty="0">
                <a:solidFill>
                  <a:srgbClr val="2231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SLC</a:t>
            </a:r>
            <a:endParaRPr lang="en-US" sz="1190" dirty="0"/>
          </a:p>
          <a:p>
            <a:pPr marL="165100" indent="-165100">
              <a:buSzPct val="100000"/>
              <a:buChar char="•"/>
            </a:pPr>
            <a:r>
              <a:rPr lang="en-US" sz="1190" dirty="0">
                <a:solidFill>
                  <a:srgbClr val="2231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LMS</a:t>
            </a:r>
            <a:endParaRPr lang="en-US" sz="1190" dirty="0"/>
          </a:p>
          <a:p>
            <a:pPr marL="165100" indent="-165100">
              <a:buSzPct val="100000"/>
              <a:buChar char="•"/>
            </a:pPr>
            <a:r>
              <a:rPr lang="en-US" sz="1190" dirty="0">
                <a:solidFill>
                  <a:srgbClr val="2231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RLS</a:t>
            </a:r>
            <a:endParaRPr lang="en-US" sz="1190" dirty="0"/>
          </a:p>
          <a:p>
            <a:pPr marL="165100" indent="-165100">
              <a:buSzPct val="100000"/>
              <a:buChar char="•"/>
            </a:pPr>
            <a:r>
              <a:rPr lang="en-US" sz="1190" dirty="0">
                <a:solidFill>
                  <a:srgbClr val="2231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Compare convergence, constraints, complexity, robustness</a:t>
            </a:r>
            <a:endParaRPr lang="en-US" sz="119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02A4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Motivating storyline: why adapt?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630936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spc="180" kern="0" dirty="0">
                <a:solidFill>
                  <a:srgbClr val="00A8C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MOTIVATION</a:t>
            </a:r>
            <a:endParaRPr lang="en-US" sz="860" dirty="0"/>
          </a:p>
        </p:txBody>
      </p:sp>
      <p:sp>
        <p:nvSpPr>
          <p:cNvPr id="4" name="Shape 2"/>
          <p:cNvSpPr/>
          <p:nvPr/>
        </p:nvSpPr>
        <p:spPr>
          <a:xfrm>
            <a:off x="621792" y="932688"/>
            <a:ext cx="10927080" cy="0"/>
          </a:xfrm>
          <a:prstGeom prst="line">
            <a:avLst/>
          </a:prstGeom>
          <a:noFill/>
          <a:ln w="14605">
            <a:solidFill>
              <a:srgbClr val="E9F0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932688"/>
            <a:ext cx="1874520" cy="0"/>
          </a:xfrm>
          <a:prstGeom prst="line">
            <a:avLst/>
          </a:prstGeom>
          <a:noFill/>
          <a:ln w="31750">
            <a:solidFill>
              <a:srgbClr val="00A8C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0" y="576072"/>
            <a:ext cx="68580" cy="68580"/>
          </a:xfrm>
          <a:prstGeom prst="ellipse">
            <a:avLst/>
          </a:prstGeom>
          <a:solidFill>
            <a:srgbClr val="102A43">
              <a:alpha val="74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37776" y="576072"/>
            <a:ext cx="68580" cy="68580"/>
          </a:xfrm>
          <a:prstGeom prst="ellipse">
            <a:avLst/>
          </a:prstGeom>
          <a:solidFill>
            <a:srgbClr val="102A43">
              <a:alpha val="74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57232" y="576072"/>
            <a:ext cx="68580" cy="68580"/>
          </a:xfrm>
          <a:prstGeom prst="ellipse">
            <a:avLst/>
          </a:prstGeom>
          <a:solidFill>
            <a:srgbClr val="102A43">
              <a:alpha val="74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76688" y="576072"/>
            <a:ext cx="68580" cy="68580"/>
          </a:xfrm>
          <a:prstGeom prst="ellipse">
            <a:avLst/>
          </a:prstGeom>
          <a:solidFill>
            <a:srgbClr val="102A43">
              <a:alpha val="74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96144" y="576072"/>
            <a:ext cx="68580" cy="68580"/>
          </a:xfrm>
          <a:prstGeom prst="ellipse">
            <a:avLst/>
          </a:prstGeom>
          <a:solidFill>
            <a:srgbClr val="102A43">
              <a:alpha val="74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0" y="576072"/>
            <a:ext cx="68580" cy="68580"/>
          </a:xfrm>
          <a:prstGeom prst="ellipse">
            <a:avLst/>
          </a:prstGeom>
          <a:solidFill>
            <a:srgbClr val="00A8C6"/>
          </a:solidFill>
          <a:ln w="12700">
            <a:solidFill>
              <a:srgbClr val="00A8C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35056" y="576072"/>
            <a:ext cx="68580" cy="68580"/>
          </a:xfrm>
          <a:prstGeom prst="ellipse">
            <a:avLst/>
          </a:prstGeom>
          <a:solidFill>
            <a:srgbClr val="102A43">
              <a:alpha val="74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54512" y="576072"/>
            <a:ext cx="68580" cy="68580"/>
          </a:xfrm>
          <a:prstGeom prst="ellipse">
            <a:avLst/>
          </a:prstGeom>
          <a:solidFill>
            <a:srgbClr val="102A43">
              <a:alpha val="74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52176" y="612648"/>
            <a:ext cx="1234440" cy="-329184"/>
          </a:xfrm>
          <a:prstGeom prst="line">
            <a:avLst/>
          </a:prstGeom>
          <a:noFill/>
          <a:ln w="21590">
            <a:solidFill>
              <a:srgbClr val="00A8C6">
                <a:alpha val="8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12471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9B7C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1792" y="647395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A9B7C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Adaptive Beamforming Made Practical</a:t>
            </a:r>
            <a:endParaRPr lang="en-US" sz="830" dirty="0"/>
          </a:p>
        </p:txBody>
      </p:sp>
      <p:sp>
        <p:nvSpPr>
          <p:cNvPr id="17" name="Text 15"/>
          <p:cNvSpPr/>
          <p:nvPr/>
        </p:nvSpPr>
        <p:spPr>
          <a:xfrm>
            <a:off x="621792" y="10972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78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Start with a useful fixed beam. Then change the environment and show exactly where fixed sidelobe control stops being enough.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1755648"/>
            <a:ext cx="5138928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9F0F5"/>
            </a:solidFill>
            <a:prstDash val="solid"/>
          </a:ln>
          <a:effectLst>
            <a:outerShdw sx="100000" sy="100000" kx="0" ky="0" algn="bl" rotWithShape="0" blurRad="1.6373007796100902e+41" dist="6.549203118440361e+40" dir="2.72097792e+49">
              <a:srgbClr val="000000">
                <a:alpha val="1.2e+49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68680" y="1984248"/>
            <a:ext cx="896112" cy="310896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1993392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Scenario A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901952" y="19659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b="1" dirty="0">
                <a:solidFill>
                  <a:srgbClr val="102A4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Fixed weights</a:t>
            </a:r>
            <a:endParaRPr lang="en-US" sz="1720" dirty="0"/>
          </a:p>
        </p:txBody>
      </p:sp>
      <p:pic>
        <p:nvPicPr>
          <p:cNvPr id="22" name="Image 0" descr="/mnt/data/fixed_pattern.png">    </p:cNvPr>
          <p:cNvPicPr>
            <a:picLocks noChangeAspect="1"/>
          </p:cNvPicPr>
          <p:nvPr/>
        </p:nvPicPr>
        <p:blipFill>
          <a:blip r:embed="rId1"/>
          <a:srcRect l="4720" r="4720" t="0" b="0"/>
          <a:stretch/>
        </p:blipFill>
        <p:spPr>
          <a:xfrm>
            <a:off x="850392" y="2423160"/>
            <a:ext cx="4700016" cy="242316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86968" y="4901184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6678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 interferer can drift onto a sidelobe even when the original window was well chosen.</a:t>
            </a:r>
            <a:endParaRPr lang="en-US" sz="1220" dirty="0"/>
          </a:p>
        </p:txBody>
      </p:sp>
      <p:sp>
        <p:nvSpPr>
          <p:cNvPr id="24" name="Shape 21"/>
          <p:cNvSpPr/>
          <p:nvPr/>
        </p:nvSpPr>
        <p:spPr>
          <a:xfrm>
            <a:off x="6382512" y="1755648"/>
            <a:ext cx="5138928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9F0F5"/>
            </a:solidFill>
            <a:prstDash val="solid"/>
          </a:ln>
          <a:effectLst>
            <a:outerShdw sx="100000" sy="100000" kx="0" ky="0" algn="bl" rotWithShape="0" blurRad="2.0793719901048145e+45" dist="8.317487960419259e+44" dir="1.6325867520000003e+54">
              <a:srgbClr val="000000">
                <a:alpha val="1.2e+54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611112" y="1984248"/>
            <a:ext cx="896112" cy="310896"/>
          </a:xfrm>
          <a:prstGeom prst="roundRect">
            <a:avLst/>
          </a:prstGeom>
          <a:solidFill>
            <a:srgbClr val="E24A33"/>
          </a:solidFill>
          <a:ln w="12700">
            <a:solidFill>
              <a:srgbClr val="E24A3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611112" y="1993392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Scenario B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7644384" y="196596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b="1" dirty="0">
                <a:solidFill>
                  <a:srgbClr val="102A4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Adaptive weights</a:t>
            </a:r>
            <a:endParaRPr lang="en-US" sz="1720" dirty="0"/>
          </a:p>
        </p:txBody>
      </p:sp>
      <p:pic>
        <p:nvPicPr>
          <p:cNvPr id="28" name="Image 1" descr="/mnt/data/adaptive_pattern.png">    </p:cNvPr>
          <p:cNvPicPr>
            <a:picLocks noChangeAspect="1"/>
          </p:cNvPicPr>
          <p:nvPr/>
        </p:nvPicPr>
        <p:blipFill>
          <a:blip r:embed="rId2"/>
          <a:srcRect l="4720" r="4720" t="0" b="0"/>
          <a:stretch/>
        </p:blipFill>
        <p:spPr>
          <a:xfrm>
            <a:off x="6592824" y="2423160"/>
            <a:ext cx="4700016" cy="242316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6620256" y="4901184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6678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Preserve the look direction while using the data to place a null on the jammer.</a:t>
            </a:r>
            <a:endParaRPr lang="en-US" sz="1220" dirty="0"/>
          </a:p>
        </p:txBody>
      </p:sp>
      <p:sp>
        <p:nvSpPr>
          <p:cNvPr id="30" name="Shape 26"/>
          <p:cNvSpPr/>
          <p:nvPr/>
        </p:nvSpPr>
        <p:spPr>
          <a:xfrm>
            <a:off x="640080" y="5623560"/>
            <a:ext cx="10881360" cy="548640"/>
          </a:xfrm>
          <a:prstGeom prst="roundRect">
            <a:avLst>
              <a:gd name="adj" fmla="val 16667"/>
            </a:avLst>
          </a:prstGeom>
          <a:solidFill>
            <a:srgbClr val="F6F9FB"/>
          </a:solidFill>
          <a:ln w="12700">
            <a:solidFill>
              <a:srgbClr val="E9F0F5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68680" y="5733288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0A8C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Motivation ladder</a:t>
            </a:r>
            <a:endParaRPr lang="en-US" sz="1080" dirty="0"/>
          </a:p>
        </p:txBody>
      </p:sp>
      <p:sp>
        <p:nvSpPr>
          <p:cNvPr id="32" name="Text 28"/>
          <p:cNvSpPr/>
          <p:nvPr/>
        </p:nvSpPr>
        <p:spPr>
          <a:xfrm>
            <a:off x="2139696" y="5669280"/>
            <a:ext cx="89428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231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other base station near sidelobe  →  non deterministic scene  →  intentional jammer  →  adaptive nulling</a:t>
            </a:r>
            <a:endParaRPr lang="en-US" sz="1320" dirty="0"/>
          </a:p>
        </p:txBody>
      </p:sp>
      <p:sp>
        <p:nvSpPr>
          <p:cNvPr id="33" name="Text 29"/>
          <p:cNvSpPr/>
          <p:nvPr/>
        </p:nvSpPr>
        <p:spPr>
          <a:xfrm>
            <a:off x="10058400" y="5276088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A9B7C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Illustrative array patterns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02A4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Hands on lab architecture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630936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spc="180" kern="0" dirty="0">
                <a:solidFill>
                  <a:srgbClr val="00A8C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LABS</a:t>
            </a:r>
            <a:endParaRPr lang="en-US" sz="860" dirty="0"/>
          </a:p>
        </p:txBody>
      </p:sp>
      <p:sp>
        <p:nvSpPr>
          <p:cNvPr id="4" name="Shape 2"/>
          <p:cNvSpPr/>
          <p:nvPr/>
        </p:nvSpPr>
        <p:spPr>
          <a:xfrm>
            <a:off x="621792" y="932688"/>
            <a:ext cx="10927080" cy="0"/>
          </a:xfrm>
          <a:prstGeom prst="line">
            <a:avLst/>
          </a:prstGeom>
          <a:noFill/>
          <a:ln w="14605">
            <a:solidFill>
              <a:srgbClr val="E9F0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932688"/>
            <a:ext cx="1874520" cy="0"/>
          </a:xfrm>
          <a:prstGeom prst="line">
            <a:avLst/>
          </a:prstGeom>
          <a:noFill/>
          <a:ln w="31750">
            <a:solidFill>
              <a:srgbClr val="00A8C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0" y="576072"/>
            <a:ext cx="68580" cy="68580"/>
          </a:xfrm>
          <a:prstGeom prst="ellipse">
            <a:avLst/>
          </a:prstGeom>
          <a:solidFill>
            <a:srgbClr val="102A43">
              <a:alpha val="74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37776" y="576072"/>
            <a:ext cx="68580" cy="68580"/>
          </a:xfrm>
          <a:prstGeom prst="ellipse">
            <a:avLst/>
          </a:prstGeom>
          <a:solidFill>
            <a:srgbClr val="102A43">
              <a:alpha val="74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57232" y="576072"/>
            <a:ext cx="68580" cy="68580"/>
          </a:xfrm>
          <a:prstGeom prst="ellipse">
            <a:avLst/>
          </a:prstGeom>
          <a:solidFill>
            <a:srgbClr val="102A43">
              <a:alpha val="74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76688" y="576072"/>
            <a:ext cx="68580" cy="68580"/>
          </a:xfrm>
          <a:prstGeom prst="ellipse">
            <a:avLst/>
          </a:prstGeom>
          <a:solidFill>
            <a:srgbClr val="102A43">
              <a:alpha val="74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96144" y="576072"/>
            <a:ext cx="68580" cy="68580"/>
          </a:xfrm>
          <a:prstGeom prst="ellipse">
            <a:avLst/>
          </a:prstGeom>
          <a:solidFill>
            <a:srgbClr val="102A43">
              <a:alpha val="74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0" y="576072"/>
            <a:ext cx="68580" cy="68580"/>
          </a:xfrm>
          <a:prstGeom prst="ellipse">
            <a:avLst/>
          </a:prstGeom>
          <a:solidFill>
            <a:srgbClr val="00A8C6"/>
          </a:solidFill>
          <a:ln w="12700">
            <a:solidFill>
              <a:srgbClr val="00A8C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35056" y="576072"/>
            <a:ext cx="68580" cy="68580"/>
          </a:xfrm>
          <a:prstGeom prst="ellipse">
            <a:avLst/>
          </a:prstGeom>
          <a:solidFill>
            <a:srgbClr val="102A43">
              <a:alpha val="74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54512" y="576072"/>
            <a:ext cx="68580" cy="68580"/>
          </a:xfrm>
          <a:prstGeom prst="ellipse">
            <a:avLst/>
          </a:prstGeom>
          <a:solidFill>
            <a:srgbClr val="102A43">
              <a:alpha val="74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52176" y="612648"/>
            <a:ext cx="1234440" cy="-329184"/>
          </a:xfrm>
          <a:prstGeom prst="line">
            <a:avLst/>
          </a:prstGeom>
          <a:noFill/>
          <a:ln w="21590">
            <a:solidFill>
              <a:srgbClr val="00A8C6">
                <a:alpha val="8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12471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9B7C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1792" y="647395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A9B7C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Adaptive Beamforming Made Practical</a:t>
            </a:r>
            <a:endParaRPr lang="en-US" sz="830" dirty="0"/>
          </a:p>
        </p:txBody>
      </p:sp>
      <p:sp>
        <p:nvSpPr>
          <p:cNvPr id="17" name="Text 15"/>
          <p:cNvSpPr/>
          <p:nvPr/>
        </p:nvSpPr>
        <p:spPr>
          <a:xfrm>
            <a:off x="621792" y="109728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78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Each focus algorithm gets the same repeatable learning loop: concept, implementation, real data, then stress testing.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1719072"/>
            <a:ext cx="2487168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9F0F5"/>
            </a:solidFill>
            <a:prstDash val="solid"/>
          </a:ln>
          <a:effectLst>
            <a:outerShdw sx="100000" sy="100000" kx="0" ky="0" algn="bl" rotWithShape="0" blurRad="2.640802427433114e+49" dist="1.0563209709732459e+49" dir="9.795520512000002e+58">
              <a:srgbClr val="000000">
                <a:alpha val="1.2e+59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1719072"/>
            <a:ext cx="2487168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" y="1938528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MVDR / LCMV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32104" y="2322576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6678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Optimal and constrained beamforming</a:t>
            </a:r>
            <a:endParaRPr lang="en-US" sz="1190" dirty="0"/>
          </a:p>
        </p:txBody>
      </p:sp>
      <p:sp>
        <p:nvSpPr>
          <p:cNvPr id="22" name="Text 20"/>
          <p:cNvSpPr/>
          <p:nvPr/>
        </p:nvSpPr>
        <p:spPr>
          <a:xfrm>
            <a:off x="832104" y="2880360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565C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lecture  →  notebook  →  real data</a:t>
            </a:r>
            <a:endParaRPr lang="en-US" sz="1040" dirty="0"/>
          </a:p>
        </p:txBody>
      </p:sp>
      <p:sp>
        <p:nvSpPr>
          <p:cNvPr id="23" name="Shape 21"/>
          <p:cNvSpPr/>
          <p:nvPr/>
        </p:nvSpPr>
        <p:spPr>
          <a:xfrm>
            <a:off x="3447288" y="1719072"/>
            <a:ext cx="2487168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9F0F5"/>
            </a:solidFill>
            <a:prstDash val="solid"/>
          </a:ln>
          <a:effectLst>
            <a:outerShdw sx="100000" sy="100000" kx="0" ky="0" algn="bl" rotWithShape="0" blurRad="3.353819082840055e+53" dist="1.3415276331360224e+53" dir="5.877312307200001e+63">
              <a:srgbClr val="000000">
                <a:alpha val="1.2000000000000001e+64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447288" y="1719072"/>
            <a:ext cx="2487168" cy="64008"/>
          </a:xfrm>
          <a:prstGeom prst="rect">
            <a:avLst/>
          </a:prstGeom>
          <a:solidFill>
            <a:srgbClr val="1D8A83"/>
          </a:solidFill>
          <a:ln w="12700">
            <a:solidFill>
              <a:srgbClr val="1D8A8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39312" y="1938528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SLC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3639312" y="2322576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6678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Practical adaptive architecture</a:t>
            </a:r>
            <a:endParaRPr lang="en-US" sz="1190" dirty="0"/>
          </a:p>
        </p:txBody>
      </p:sp>
      <p:sp>
        <p:nvSpPr>
          <p:cNvPr id="27" name="Text 25"/>
          <p:cNvSpPr/>
          <p:nvPr/>
        </p:nvSpPr>
        <p:spPr>
          <a:xfrm>
            <a:off x="3639312" y="2880360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D8A8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lecture  →  notebook  →  real data</a:t>
            </a:r>
            <a:endParaRPr lang="en-US" sz="1040" dirty="0"/>
          </a:p>
        </p:txBody>
      </p:sp>
      <p:sp>
        <p:nvSpPr>
          <p:cNvPr id="28" name="Shape 26"/>
          <p:cNvSpPr/>
          <p:nvPr/>
        </p:nvSpPr>
        <p:spPr>
          <a:xfrm>
            <a:off x="6254496" y="1719072"/>
            <a:ext cx="2487168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9F0F5"/>
            </a:solidFill>
            <a:prstDash val="solid"/>
          </a:ln>
          <a:effectLst>
            <a:outerShdw sx="100000" sy="100000" kx="0" ky="0" algn="bl" rotWithShape="0" blurRad="4.2593502352068695e+57" dist="1.7037400940827486e+57" dir="3.526387384320001e+68">
              <a:srgbClr val="000000">
                <a:alpha val="1.2e+69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54496" y="1719072"/>
            <a:ext cx="2487168" cy="64008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1938528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LMS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6446520" y="2322576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6678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Iterative adaptation and convergence</a:t>
            </a:r>
            <a:endParaRPr lang="en-US" sz="1190" dirty="0"/>
          </a:p>
        </p:txBody>
      </p:sp>
      <p:sp>
        <p:nvSpPr>
          <p:cNvPr id="32" name="Text 30"/>
          <p:cNvSpPr/>
          <p:nvPr/>
        </p:nvSpPr>
        <p:spPr>
          <a:xfrm>
            <a:off x="6446520" y="2880360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6D5BD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lecture  →  notebook  →  real data</a:t>
            </a:r>
            <a:endParaRPr lang="en-US" sz="1040" dirty="0"/>
          </a:p>
        </p:txBody>
      </p:sp>
      <p:sp>
        <p:nvSpPr>
          <p:cNvPr id="33" name="Shape 31"/>
          <p:cNvSpPr/>
          <p:nvPr/>
        </p:nvSpPr>
        <p:spPr>
          <a:xfrm>
            <a:off x="9061704" y="1719072"/>
            <a:ext cx="2487168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9F0F5"/>
            </a:solidFill>
            <a:prstDash val="solid"/>
          </a:ln>
          <a:effectLst>
            <a:outerShdw sx="100000" sy="100000" kx="0" ky="0" algn="bl" rotWithShape="0" blurRad="5.409374798712724e+61" dist="2.1637499194850906e+61" dir="2.1158324305920003e+73">
              <a:srgbClr val="000000">
                <a:alpha val="1.2e+74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061704" y="1719072"/>
            <a:ext cx="2487168" cy="64008"/>
          </a:xfrm>
          <a:prstGeom prst="rect">
            <a:avLst/>
          </a:prstGeom>
          <a:solidFill>
            <a:srgbClr val="E24A33"/>
          </a:solidFill>
          <a:ln w="12700">
            <a:solidFill>
              <a:srgbClr val="E24A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53728" y="1938528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RLS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9253728" y="2322576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6678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Faster adaptation, higher complexity</a:t>
            </a:r>
            <a:endParaRPr lang="en-US" sz="1190" dirty="0"/>
          </a:p>
        </p:txBody>
      </p:sp>
      <p:sp>
        <p:nvSpPr>
          <p:cNvPr id="37" name="Text 35"/>
          <p:cNvSpPr/>
          <p:nvPr/>
        </p:nvSpPr>
        <p:spPr>
          <a:xfrm>
            <a:off x="9253728" y="2880360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E24A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lecture  →  notebook  →  real data</a:t>
            </a:r>
            <a:endParaRPr lang="en-US" sz="1040" dirty="0"/>
          </a:p>
        </p:txBody>
      </p:sp>
      <p:sp>
        <p:nvSpPr>
          <p:cNvPr id="38" name="Text 36"/>
          <p:cNvSpPr/>
          <p:nvPr/>
        </p:nvSpPr>
        <p:spPr>
          <a:xfrm>
            <a:off x="640080" y="362102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102A4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Three levels, 2 or 3 exercises per level</a:t>
            </a:r>
            <a:endParaRPr lang="en-US" sz="1620" dirty="0"/>
          </a:p>
        </p:txBody>
      </p:sp>
      <p:sp>
        <p:nvSpPr>
          <p:cNvPr id="39" name="Shape 37"/>
          <p:cNvSpPr/>
          <p:nvPr/>
        </p:nvSpPr>
        <p:spPr>
          <a:xfrm>
            <a:off x="640080" y="4078224"/>
            <a:ext cx="2779776" cy="1755648"/>
          </a:xfrm>
          <a:prstGeom prst="roundRect">
            <a:avLst>
              <a:gd name="adj" fmla="val 6250"/>
            </a:avLst>
          </a:prstGeom>
          <a:solidFill>
            <a:srgbClr val="F6F9FB"/>
          </a:solidFill>
          <a:ln w="12700">
            <a:solidFill>
              <a:srgbClr val="E9F0F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2960" y="4279392"/>
            <a:ext cx="914400" cy="310896"/>
          </a:xfrm>
          <a:prstGeom prst="roundRect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" y="42885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EASY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22960" y="4700016"/>
            <a:ext cx="2377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170" dirty="0">
                <a:solidFill>
                  <a:srgbClr val="2231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Run a known baseline</a:t>
            </a:r>
            <a:endParaRPr lang="en-US" sz="1170" dirty="0"/>
          </a:p>
          <a:p>
            <a:pPr marL="165100" indent="-165100">
              <a:buSzPct val="100000"/>
              <a:buChar char="•"/>
            </a:pPr>
            <a:r>
              <a:rPr lang="en-US" sz="1170" dirty="0">
                <a:solidFill>
                  <a:srgbClr val="2231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Read the pattern and SINR plots</a:t>
            </a:r>
            <a:endParaRPr lang="en-US" sz="1170" dirty="0"/>
          </a:p>
          <a:p>
            <a:pPr marL="165100" indent="-165100">
              <a:buSzPct val="100000"/>
              <a:buChar char="•"/>
            </a:pPr>
            <a:r>
              <a:rPr lang="en-US" sz="1170" dirty="0">
                <a:solidFill>
                  <a:srgbClr val="2231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Change one clearly defined parameter</a:t>
            </a:r>
            <a:endParaRPr lang="en-US" sz="1170" dirty="0"/>
          </a:p>
        </p:txBody>
      </p:sp>
      <p:sp>
        <p:nvSpPr>
          <p:cNvPr id="43" name="Shape 41"/>
          <p:cNvSpPr/>
          <p:nvPr/>
        </p:nvSpPr>
        <p:spPr>
          <a:xfrm>
            <a:off x="3721608" y="4078224"/>
            <a:ext cx="2779776" cy="1755648"/>
          </a:xfrm>
          <a:prstGeom prst="roundRect">
            <a:avLst>
              <a:gd name="adj" fmla="val 6250"/>
            </a:avLst>
          </a:prstGeom>
          <a:solidFill>
            <a:srgbClr val="F6F9FB"/>
          </a:solidFill>
          <a:ln w="12700">
            <a:solidFill>
              <a:srgbClr val="E9F0F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904488" y="4279392"/>
            <a:ext cx="914400" cy="310896"/>
          </a:xfrm>
          <a:prstGeom prst="roundRect">
            <a:avLst/>
          </a:prstGeom>
          <a:solidFill>
            <a:srgbClr val="C68A17"/>
          </a:solidFill>
          <a:ln w="12700">
            <a:solidFill>
              <a:srgbClr val="C68A1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904488" y="42885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INTERMEDIATE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3904488" y="4700016"/>
            <a:ext cx="2377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170" dirty="0">
                <a:solidFill>
                  <a:srgbClr val="2231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Change array or interference geometry</a:t>
            </a:r>
            <a:endParaRPr lang="en-US" sz="1170" dirty="0"/>
          </a:p>
          <a:p>
            <a:pPr marL="165100" indent="-165100">
              <a:buSzPct val="100000"/>
              <a:buChar char="•"/>
            </a:pPr>
            <a:r>
              <a:rPr lang="en-US" sz="1170" dirty="0">
                <a:solidFill>
                  <a:srgbClr val="2231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Compare algorithm behavior</a:t>
            </a:r>
            <a:endParaRPr lang="en-US" sz="1170" dirty="0"/>
          </a:p>
          <a:p>
            <a:pPr marL="165100" indent="-165100">
              <a:buSzPct val="100000"/>
              <a:buChar char="•"/>
            </a:pPr>
            <a:r>
              <a:rPr lang="en-US" sz="1170" dirty="0">
                <a:solidFill>
                  <a:srgbClr val="2231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Explain SINR and null placement</a:t>
            </a:r>
            <a:endParaRPr lang="en-US" sz="1170" dirty="0"/>
          </a:p>
        </p:txBody>
      </p:sp>
      <p:sp>
        <p:nvSpPr>
          <p:cNvPr id="47" name="Shape 45"/>
          <p:cNvSpPr/>
          <p:nvPr/>
        </p:nvSpPr>
        <p:spPr>
          <a:xfrm>
            <a:off x="6803136" y="4078224"/>
            <a:ext cx="2779776" cy="1755648"/>
          </a:xfrm>
          <a:prstGeom prst="roundRect">
            <a:avLst>
              <a:gd name="adj" fmla="val 6250"/>
            </a:avLst>
          </a:prstGeom>
          <a:solidFill>
            <a:srgbClr val="F6F9FB"/>
          </a:solidFill>
          <a:ln w="12700">
            <a:solidFill>
              <a:srgbClr val="E9F0F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986016" y="4279392"/>
            <a:ext cx="914400" cy="310896"/>
          </a:xfrm>
          <a:prstGeom prst="roundRect">
            <a:avLst/>
          </a:prstGeom>
          <a:solidFill>
            <a:srgbClr val="E24A33"/>
          </a:solidFill>
          <a:ln w="12700">
            <a:solidFill>
              <a:srgbClr val="E24A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86016" y="42885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HARD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986016" y="4700016"/>
            <a:ext cx="2377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170" dirty="0">
                <a:solidFill>
                  <a:srgbClr val="2231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Incomplete knowledge or moving jammer</a:t>
            </a:r>
            <a:endParaRPr lang="en-US" sz="1170" dirty="0"/>
          </a:p>
          <a:p>
            <a:pPr marL="165100" indent="-165100">
              <a:buSzPct val="100000"/>
              <a:buChar char="•"/>
            </a:pPr>
            <a:r>
              <a:rPr lang="en-US" sz="1170" dirty="0">
                <a:solidFill>
                  <a:srgbClr val="2231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Convergence, robustness, constraints</a:t>
            </a:r>
            <a:endParaRPr lang="en-US" sz="1170" dirty="0"/>
          </a:p>
          <a:p>
            <a:pPr marL="165100" indent="-165100">
              <a:buSzPct val="100000"/>
              <a:buChar char="•"/>
            </a:pPr>
            <a:r>
              <a:rPr lang="en-US" sz="1170" dirty="0">
                <a:solidFill>
                  <a:srgbClr val="2231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Make a design choice and defend it</a:t>
            </a:r>
            <a:endParaRPr lang="en-US" sz="1170" dirty="0"/>
          </a:p>
        </p:txBody>
      </p:sp>
      <p:sp>
        <p:nvSpPr>
          <p:cNvPr id="51" name="Shape 49"/>
          <p:cNvSpPr/>
          <p:nvPr/>
        </p:nvSpPr>
        <p:spPr>
          <a:xfrm>
            <a:off x="9884664" y="4078224"/>
            <a:ext cx="1645920" cy="1755648"/>
          </a:xfrm>
          <a:prstGeom prst="roundRect">
            <a:avLst>
              <a:gd name="adj" fmla="val 666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076688" y="4315968"/>
            <a:ext cx="1261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Common</a:t>
            </a:r>
            <a:endParaRPr lang="en-US" sz="1420" dirty="0"/>
          </a:p>
          <a:p>
            <a:pPr algn="ctr" indent="0" marL="0">
              <a:buNone/>
            </a:pPr>
            <a:r>
              <a:rPr lang="en-US" sz="142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lab outputs</a:t>
            </a:r>
            <a:endParaRPr lang="en-US" sz="1420" dirty="0"/>
          </a:p>
        </p:txBody>
      </p:sp>
      <p:sp>
        <p:nvSpPr>
          <p:cNvPr id="53" name="Text 51"/>
          <p:cNvSpPr/>
          <p:nvPr/>
        </p:nvSpPr>
        <p:spPr>
          <a:xfrm>
            <a:off x="10104120" y="4882896"/>
            <a:ext cx="1225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D7E6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pattern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D7E6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SINR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D7E6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weights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D7E6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convergence</a:t>
            </a:r>
            <a:endParaRPr lang="en-US" sz="11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02A4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Workstreams and definition of done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630936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spc="180" kern="0" dirty="0">
                <a:solidFill>
                  <a:srgbClr val="00A8C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EXECUTION</a:t>
            </a:r>
            <a:endParaRPr lang="en-US" sz="860" dirty="0"/>
          </a:p>
        </p:txBody>
      </p:sp>
      <p:sp>
        <p:nvSpPr>
          <p:cNvPr id="4" name="Shape 2"/>
          <p:cNvSpPr/>
          <p:nvPr/>
        </p:nvSpPr>
        <p:spPr>
          <a:xfrm>
            <a:off x="621792" y="932688"/>
            <a:ext cx="10927080" cy="0"/>
          </a:xfrm>
          <a:prstGeom prst="line">
            <a:avLst/>
          </a:prstGeom>
          <a:noFill/>
          <a:ln w="14605">
            <a:solidFill>
              <a:srgbClr val="E9F0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932688"/>
            <a:ext cx="1874520" cy="0"/>
          </a:xfrm>
          <a:prstGeom prst="line">
            <a:avLst/>
          </a:prstGeom>
          <a:noFill/>
          <a:ln w="31750">
            <a:solidFill>
              <a:srgbClr val="00A8C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0" y="576072"/>
            <a:ext cx="68580" cy="68580"/>
          </a:xfrm>
          <a:prstGeom prst="ellipse">
            <a:avLst/>
          </a:prstGeom>
          <a:solidFill>
            <a:srgbClr val="102A43">
              <a:alpha val="74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37776" y="576072"/>
            <a:ext cx="68580" cy="68580"/>
          </a:xfrm>
          <a:prstGeom prst="ellipse">
            <a:avLst/>
          </a:prstGeom>
          <a:solidFill>
            <a:srgbClr val="102A43">
              <a:alpha val="74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57232" y="576072"/>
            <a:ext cx="68580" cy="68580"/>
          </a:xfrm>
          <a:prstGeom prst="ellipse">
            <a:avLst/>
          </a:prstGeom>
          <a:solidFill>
            <a:srgbClr val="102A43">
              <a:alpha val="74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76688" y="576072"/>
            <a:ext cx="68580" cy="68580"/>
          </a:xfrm>
          <a:prstGeom prst="ellipse">
            <a:avLst/>
          </a:prstGeom>
          <a:solidFill>
            <a:srgbClr val="102A43">
              <a:alpha val="74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96144" y="576072"/>
            <a:ext cx="68580" cy="68580"/>
          </a:xfrm>
          <a:prstGeom prst="ellipse">
            <a:avLst/>
          </a:prstGeom>
          <a:solidFill>
            <a:srgbClr val="102A43">
              <a:alpha val="74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0" y="576072"/>
            <a:ext cx="68580" cy="68580"/>
          </a:xfrm>
          <a:prstGeom prst="ellipse">
            <a:avLst/>
          </a:prstGeom>
          <a:solidFill>
            <a:srgbClr val="00A8C6"/>
          </a:solidFill>
          <a:ln w="12700">
            <a:solidFill>
              <a:srgbClr val="00A8C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35056" y="576072"/>
            <a:ext cx="68580" cy="68580"/>
          </a:xfrm>
          <a:prstGeom prst="ellipse">
            <a:avLst/>
          </a:prstGeom>
          <a:solidFill>
            <a:srgbClr val="102A43">
              <a:alpha val="74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54512" y="576072"/>
            <a:ext cx="68580" cy="68580"/>
          </a:xfrm>
          <a:prstGeom prst="ellipse">
            <a:avLst/>
          </a:prstGeom>
          <a:solidFill>
            <a:srgbClr val="102A43">
              <a:alpha val="74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52176" y="612648"/>
            <a:ext cx="1234440" cy="-329184"/>
          </a:xfrm>
          <a:prstGeom prst="line">
            <a:avLst/>
          </a:prstGeom>
          <a:noFill/>
          <a:ln w="21590">
            <a:solidFill>
              <a:srgbClr val="00A8C6">
                <a:alpha val="8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12471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9B7C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1792" y="647395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A9B7C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Adaptive Beamforming Made Practical</a:t>
            </a:r>
            <a:endParaRPr lang="en-US" sz="830" dirty="0"/>
          </a:p>
        </p:txBody>
      </p:sp>
      <p:sp>
        <p:nvSpPr>
          <p:cNvPr id="17" name="Text 15"/>
          <p:cNvSpPr/>
          <p:nvPr/>
        </p:nvSpPr>
        <p:spPr>
          <a:xfrm>
            <a:off x="621792" y="109728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70" dirty="0">
                <a:solidFill>
                  <a:srgbClr val="6678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 one owner and one reviewer for each workstream. The owner cell is intentionally left open for today’s discussion.</a:t>
            </a:r>
            <a:endParaRPr lang="en-US" sz="1470" dirty="0"/>
          </a:p>
        </p:txBody>
      </p:sp>
      <p:sp>
        <p:nvSpPr>
          <p:cNvPr id="18" name="Text 16"/>
          <p:cNvSpPr/>
          <p:nvPr/>
        </p:nvSpPr>
        <p:spPr>
          <a:xfrm>
            <a:off x="841248" y="157276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spc="110" kern="0" dirty="0">
                <a:solidFill>
                  <a:srgbClr val="A9B7C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WORKSTREAM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3749040" y="1572768"/>
            <a:ext cx="5806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spc="110" kern="0" dirty="0">
                <a:solidFill>
                  <a:srgbClr val="A9B7C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DONE WHEN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10369296" y="157276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spc="110" kern="0" dirty="0">
                <a:solidFill>
                  <a:srgbClr val="A9B7C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OWNER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640080" y="1755648"/>
            <a:ext cx="10899648" cy="694944"/>
          </a:xfrm>
          <a:prstGeom prst="roundRect">
            <a:avLst>
              <a:gd name="adj" fmla="val 13158"/>
            </a:avLst>
          </a:prstGeom>
          <a:solidFill>
            <a:srgbClr val="F6F9FB"/>
          </a:solidFill>
          <a:ln w="12700">
            <a:solidFill>
              <a:srgbClr val="E9F0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9536" y="188366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b="1" dirty="0">
                <a:solidFill>
                  <a:srgbClr val="102A4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Narrative and slide modules</a:t>
            </a:r>
            <a:endParaRPr lang="en-US" sz="1310" dirty="0"/>
          </a:p>
        </p:txBody>
      </p:sp>
      <p:sp>
        <p:nvSpPr>
          <p:cNvPr id="23" name="Text 21"/>
          <p:cNvSpPr/>
          <p:nvPr/>
        </p:nvSpPr>
        <p:spPr>
          <a:xfrm>
            <a:off x="3749040" y="1856232"/>
            <a:ext cx="5870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2231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Concept sequence, transitions, speaker timing, consistent notation</a:t>
            </a:r>
            <a:endParaRPr lang="en-US" sz="1210" dirty="0"/>
          </a:p>
        </p:txBody>
      </p:sp>
      <p:sp>
        <p:nvSpPr>
          <p:cNvPr id="24" name="Shape 22"/>
          <p:cNvSpPr/>
          <p:nvPr/>
        </p:nvSpPr>
        <p:spPr>
          <a:xfrm>
            <a:off x="10222992" y="1920240"/>
            <a:ext cx="987552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A9B7C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22992" y="1920240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6678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TBD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640080" y="2615184"/>
            <a:ext cx="10899648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E9F0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9536" y="2743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b="1" dirty="0">
                <a:solidFill>
                  <a:srgbClr val="102A4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Lab notebooks and solutions</a:t>
            </a:r>
            <a:endParaRPr lang="en-US" sz="1310" dirty="0"/>
          </a:p>
        </p:txBody>
      </p:sp>
      <p:sp>
        <p:nvSpPr>
          <p:cNvPr id="28" name="Text 26"/>
          <p:cNvSpPr/>
          <p:nvPr/>
        </p:nvSpPr>
        <p:spPr>
          <a:xfrm>
            <a:off x="3749040" y="2715768"/>
            <a:ext cx="5870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2231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Starter notebook, expected outputs, solution notebook, reset instructions</a:t>
            </a:r>
            <a:endParaRPr lang="en-US" sz="1210" dirty="0"/>
          </a:p>
        </p:txBody>
      </p:sp>
      <p:sp>
        <p:nvSpPr>
          <p:cNvPr id="29" name="Shape 27"/>
          <p:cNvSpPr/>
          <p:nvPr/>
        </p:nvSpPr>
        <p:spPr>
          <a:xfrm>
            <a:off x="10222992" y="2779776"/>
            <a:ext cx="987552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A9B7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222992" y="2779776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6678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TBD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640080" y="3474720"/>
            <a:ext cx="10899648" cy="694944"/>
          </a:xfrm>
          <a:prstGeom prst="roundRect">
            <a:avLst>
              <a:gd name="adj" fmla="val 13158"/>
            </a:avLst>
          </a:prstGeom>
          <a:solidFill>
            <a:srgbClr val="F6F9FB"/>
          </a:solidFill>
          <a:ln w="12700">
            <a:solidFill>
              <a:srgbClr val="E9F0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9536" y="360273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b="1" dirty="0">
                <a:solidFill>
                  <a:srgbClr val="102A4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 and hardware path</a:t>
            </a:r>
            <a:endParaRPr lang="en-US" sz="1310" dirty="0"/>
          </a:p>
        </p:txBody>
      </p:sp>
      <p:sp>
        <p:nvSpPr>
          <p:cNvPr id="33" name="Text 31"/>
          <p:cNvSpPr/>
          <p:nvPr/>
        </p:nvSpPr>
        <p:spPr>
          <a:xfrm>
            <a:off x="3749040" y="3575304"/>
            <a:ext cx="5870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2231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Scripted acquisition, known classroom setup, recorded fallback datasets</a:t>
            </a:r>
            <a:endParaRPr lang="en-US" sz="1210" dirty="0"/>
          </a:p>
        </p:txBody>
      </p:sp>
      <p:sp>
        <p:nvSpPr>
          <p:cNvPr id="34" name="Shape 32"/>
          <p:cNvSpPr/>
          <p:nvPr/>
        </p:nvSpPr>
        <p:spPr>
          <a:xfrm>
            <a:off x="10222992" y="3639312"/>
            <a:ext cx="987552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A9B7C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222992" y="3639312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6678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TBD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640080" y="4334256"/>
            <a:ext cx="10899648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E9F0F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9536" y="446227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b="1" dirty="0">
                <a:solidFill>
                  <a:srgbClr val="102A4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Figures and demonstrations</a:t>
            </a:r>
            <a:endParaRPr lang="en-US" sz="1310" dirty="0"/>
          </a:p>
        </p:txBody>
      </p:sp>
      <p:sp>
        <p:nvSpPr>
          <p:cNvPr id="38" name="Text 36"/>
          <p:cNvSpPr/>
          <p:nvPr/>
        </p:nvSpPr>
        <p:spPr>
          <a:xfrm>
            <a:off x="3749040" y="4434840"/>
            <a:ext cx="5870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2231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Patterns, data flow, Fourier viewpoint, interference and nulling visuals</a:t>
            </a:r>
            <a:endParaRPr lang="en-US" sz="1210" dirty="0"/>
          </a:p>
        </p:txBody>
      </p:sp>
      <p:sp>
        <p:nvSpPr>
          <p:cNvPr id="39" name="Shape 37"/>
          <p:cNvSpPr/>
          <p:nvPr/>
        </p:nvSpPr>
        <p:spPr>
          <a:xfrm>
            <a:off x="10222992" y="4498848"/>
            <a:ext cx="987552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A9B7C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222992" y="4498848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6678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TBD</a:t>
            </a:r>
            <a:endParaRPr lang="en-US" sz="1080" dirty="0"/>
          </a:p>
        </p:txBody>
      </p:sp>
      <p:sp>
        <p:nvSpPr>
          <p:cNvPr id="41" name="Shape 39"/>
          <p:cNvSpPr/>
          <p:nvPr/>
        </p:nvSpPr>
        <p:spPr>
          <a:xfrm>
            <a:off x="640080" y="5193792"/>
            <a:ext cx="10899648" cy="694944"/>
          </a:xfrm>
          <a:prstGeom prst="roundRect">
            <a:avLst>
              <a:gd name="adj" fmla="val 13158"/>
            </a:avLst>
          </a:prstGeom>
          <a:solidFill>
            <a:srgbClr val="F6F9FB"/>
          </a:solidFill>
          <a:ln w="12700">
            <a:solidFill>
              <a:srgbClr val="E9F0F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59536" y="532180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b="1" dirty="0">
                <a:solidFill>
                  <a:srgbClr val="102A4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Integration and rehearsal</a:t>
            </a:r>
            <a:endParaRPr lang="en-US" sz="1310" dirty="0"/>
          </a:p>
        </p:txBody>
      </p:sp>
      <p:sp>
        <p:nvSpPr>
          <p:cNvPr id="43" name="Text 41"/>
          <p:cNvSpPr/>
          <p:nvPr/>
        </p:nvSpPr>
        <p:spPr>
          <a:xfrm>
            <a:off x="3749040" y="5294376"/>
            <a:ext cx="5870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2231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Full run under target time, handoffs tested, recovery plan for demo failure</a:t>
            </a:r>
            <a:endParaRPr lang="en-US" sz="1210" dirty="0"/>
          </a:p>
        </p:txBody>
      </p:sp>
      <p:sp>
        <p:nvSpPr>
          <p:cNvPr id="44" name="Shape 42"/>
          <p:cNvSpPr/>
          <p:nvPr/>
        </p:nvSpPr>
        <p:spPr>
          <a:xfrm>
            <a:off x="10222992" y="5358384"/>
            <a:ext cx="987552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A9B7C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222992" y="5358384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6678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TBD</a:t>
            </a:r>
            <a:endParaRPr lang="en-US" sz="1080" dirty="0"/>
          </a:p>
        </p:txBody>
      </p:sp>
      <p:sp>
        <p:nvSpPr>
          <p:cNvPr id="46" name="Shape 44"/>
          <p:cNvSpPr/>
          <p:nvPr/>
        </p:nvSpPr>
        <p:spPr>
          <a:xfrm>
            <a:off x="640080" y="6199632"/>
            <a:ext cx="1089964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9808" y="6089904"/>
            <a:ext cx="10533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00A8C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Recommended review rule: no module is “done” until a second presenter can run it without the author present.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02A4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Proposed timeline to the tutorial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630936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spc="180" kern="0" dirty="0">
                <a:solidFill>
                  <a:srgbClr val="00A8C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TIMELINE</a:t>
            </a:r>
            <a:endParaRPr lang="en-US" sz="860" dirty="0"/>
          </a:p>
        </p:txBody>
      </p:sp>
      <p:sp>
        <p:nvSpPr>
          <p:cNvPr id="4" name="Shape 2"/>
          <p:cNvSpPr/>
          <p:nvPr/>
        </p:nvSpPr>
        <p:spPr>
          <a:xfrm>
            <a:off x="621792" y="932688"/>
            <a:ext cx="10927080" cy="0"/>
          </a:xfrm>
          <a:prstGeom prst="line">
            <a:avLst/>
          </a:prstGeom>
          <a:noFill/>
          <a:ln w="14605">
            <a:solidFill>
              <a:srgbClr val="E9F0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932688"/>
            <a:ext cx="1874520" cy="0"/>
          </a:xfrm>
          <a:prstGeom prst="line">
            <a:avLst/>
          </a:prstGeom>
          <a:noFill/>
          <a:ln w="31750">
            <a:solidFill>
              <a:srgbClr val="00A8C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0" y="576072"/>
            <a:ext cx="68580" cy="68580"/>
          </a:xfrm>
          <a:prstGeom prst="ellipse">
            <a:avLst/>
          </a:prstGeom>
          <a:solidFill>
            <a:srgbClr val="102A43">
              <a:alpha val="74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37776" y="576072"/>
            <a:ext cx="68580" cy="68580"/>
          </a:xfrm>
          <a:prstGeom prst="ellipse">
            <a:avLst/>
          </a:prstGeom>
          <a:solidFill>
            <a:srgbClr val="102A43">
              <a:alpha val="74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57232" y="576072"/>
            <a:ext cx="68580" cy="68580"/>
          </a:xfrm>
          <a:prstGeom prst="ellipse">
            <a:avLst/>
          </a:prstGeom>
          <a:solidFill>
            <a:srgbClr val="102A43">
              <a:alpha val="74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76688" y="576072"/>
            <a:ext cx="68580" cy="68580"/>
          </a:xfrm>
          <a:prstGeom prst="ellipse">
            <a:avLst/>
          </a:prstGeom>
          <a:solidFill>
            <a:srgbClr val="102A43">
              <a:alpha val="74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96144" y="576072"/>
            <a:ext cx="68580" cy="68580"/>
          </a:xfrm>
          <a:prstGeom prst="ellipse">
            <a:avLst/>
          </a:prstGeom>
          <a:solidFill>
            <a:srgbClr val="102A43">
              <a:alpha val="74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0" y="576072"/>
            <a:ext cx="68580" cy="68580"/>
          </a:xfrm>
          <a:prstGeom prst="ellipse">
            <a:avLst/>
          </a:prstGeom>
          <a:solidFill>
            <a:srgbClr val="00A8C6"/>
          </a:solidFill>
          <a:ln w="12700">
            <a:solidFill>
              <a:srgbClr val="00A8C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35056" y="576072"/>
            <a:ext cx="68580" cy="68580"/>
          </a:xfrm>
          <a:prstGeom prst="ellipse">
            <a:avLst/>
          </a:prstGeom>
          <a:solidFill>
            <a:srgbClr val="102A43">
              <a:alpha val="74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54512" y="576072"/>
            <a:ext cx="68580" cy="68580"/>
          </a:xfrm>
          <a:prstGeom prst="ellipse">
            <a:avLst/>
          </a:prstGeom>
          <a:solidFill>
            <a:srgbClr val="102A43">
              <a:alpha val="74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52176" y="612648"/>
            <a:ext cx="1234440" cy="-329184"/>
          </a:xfrm>
          <a:prstGeom prst="line">
            <a:avLst/>
          </a:prstGeom>
          <a:noFill/>
          <a:ln w="21590">
            <a:solidFill>
              <a:srgbClr val="00A8C6">
                <a:alpha val="8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12471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9B7C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07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1792" y="647395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A9B7C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Adaptive Beamforming Made Practical</a:t>
            </a:r>
            <a:endParaRPr lang="en-US" sz="830" dirty="0"/>
          </a:p>
        </p:txBody>
      </p:sp>
      <p:sp>
        <p:nvSpPr>
          <p:cNvPr id="17" name="Text 15"/>
          <p:cNvSpPr/>
          <p:nvPr/>
        </p:nvSpPr>
        <p:spPr>
          <a:xfrm>
            <a:off x="621792" y="1097280"/>
            <a:ext cx="10789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78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Eight week runway from today to October 22. Build in parallel, integrate early, then freeze the final week.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163824" y="1609344"/>
            <a:ext cx="98526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0A8C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Aug 27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3163824" y="1883664"/>
            <a:ext cx="0" cy="3730752"/>
          </a:xfrm>
          <a:prstGeom prst="line">
            <a:avLst/>
          </a:prstGeom>
          <a:noFill/>
          <a:ln w="10160">
            <a:solidFill>
              <a:srgbClr val="E9F0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49090" y="1609344"/>
            <a:ext cx="98526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6678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Sep 3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4149090" y="1883664"/>
            <a:ext cx="0" cy="3730752"/>
          </a:xfrm>
          <a:prstGeom prst="line">
            <a:avLst/>
          </a:prstGeom>
          <a:noFill/>
          <a:ln w="10160">
            <a:solidFill>
              <a:srgbClr val="E9F0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34356" y="1609344"/>
            <a:ext cx="98526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6678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Sep 10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5134356" y="1883664"/>
            <a:ext cx="0" cy="3730752"/>
          </a:xfrm>
          <a:prstGeom prst="line">
            <a:avLst/>
          </a:prstGeom>
          <a:noFill/>
          <a:ln w="10160">
            <a:solidFill>
              <a:srgbClr val="E9F0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19622" y="1609344"/>
            <a:ext cx="98526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6678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Sep 17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6119622" y="1883664"/>
            <a:ext cx="0" cy="3730752"/>
          </a:xfrm>
          <a:prstGeom prst="line">
            <a:avLst/>
          </a:prstGeom>
          <a:noFill/>
          <a:ln w="10160">
            <a:solidFill>
              <a:srgbClr val="E9F0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04888" y="1609344"/>
            <a:ext cx="98526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6678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Sep 24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7104888" y="1883664"/>
            <a:ext cx="0" cy="3730752"/>
          </a:xfrm>
          <a:prstGeom prst="line">
            <a:avLst/>
          </a:prstGeom>
          <a:noFill/>
          <a:ln w="10160">
            <a:solidFill>
              <a:srgbClr val="E9F0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90154" y="1609344"/>
            <a:ext cx="98526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6678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Oct 1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8090154" y="1883664"/>
            <a:ext cx="0" cy="3730752"/>
          </a:xfrm>
          <a:prstGeom prst="line">
            <a:avLst/>
          </a:prstGeom>
          <a:noFill/>
          <a:ln w="10160">
            <a:solidFill>
              <a:srgbClr val="E9F0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75420" y="1609344"/>
            <a:ext cx="98526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6678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Oct 8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75420" y="1883664"/>
            <a:ext cx="0" cy="3730752"/>
          </a:xfrm>
          <a:prstGeom prst="line">
            <a:avLst/>
          </a:prstGeom>
          <a:noFill/>
          <a:ln w="10160">
            <a:solidFill>
              <a:srgbClr val="E9F0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60686" y="1609344"/>
            <a:ext cx="98526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6678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Oct 15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10060686" y="1883664"/>
            <a:ext cx="0" cy="3730752"/>
          </a:xfrm>
          <a:prstGeom prst="line">
            <a:avLst/>
          </a:prstGeom>
          <a:noFill/>
          <a:ln w="10160">
            <a:solidFill>
              <a:srgbClr val="E9F0F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045952" y="1883664"/>
            <a:ext cx="0" cy="3730752"/>
          </a:xfrm>
          <a:prstGeom prst="line">
            <a:avLst/>
          </a:prstGeom>
          <a:noFill/>
          <a:ln w="10160">
            <a:solidFill>
              <a:srgbClr val="E9F0F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8368" y="1883664"/>
            <a:ext cx="10415016" cy="530352"/>
          </a:xfrm>
          <a:prstGeom prst="rect">
            <a:avLst/>
          </a:prstGeom>
          <a:solidFill>
            <a:srgbClr val="F6F9FB"/>
          </a:solidFill>
          <a:ln w="12700">
            <a:solidFill>
              <a:srgbClr val="F6F9F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1938528"/>
            <a:ext cx="2340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2231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Scope and ownership</a:t>
            </a:r>
            <a:endParaRPr lang="en-US" sz="1160" dirty="0"/>
          </a:p>
        </p:txBody>
      </p:sp>
      <p:sp>
        <p:nvSpPr>
          <p:cNvPr id="37" name="Shape 35"/>
          <p:cNvSpPr/>
          <p:nvPr/>
        </p:nvSpPr>
        <p:spPr>
          <a:xfrm>
            <a:off x="3218688" y="1993392"/>
            <a:ext cx="875538" cy="292608"/>
          </a:xfrm>
          <a:prstGeom prst="roundRect">
            <a:avLst/>
          </a:prstGeom>
          <a:solidFill>
            <a:srgbClr val="00A8C6">
              <a:alpha val="95000"/>
            </a:srgbClr>
          </a:solidFill>
          <a:ln w="12700">
            <a:solidFill>
              <a:srgbClr val="00A8C6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8096" y="2468880"/>
            <a:ext cx="2340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231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Foundations slides</a:t>
            </a:r>
            <a:endParaRPr lang="en-US" sz="1160" dirty="0"/>
          </a:p>
        </p:txBody>
      </p:sp>
      <p:sp>
        <p:nvSpPr>
          <p:cNvPr id="39" name="Shape 37"/>
          <p:cNvSpPr/>
          <p:nvPr/>
        </p:nvSpPr>
        <p:spPr>
          <a:xfrm>
            <a:off x="3218688" y="2523744"/>
            <a:ext cx="2846070" cy="292608"/>
          </a:xfrm>
          <a:prstGeom prst="roundRect">
            <a:avLst/>
          </a:prstGeom>
          <a:solidFill>
            <a:srgbClr val="1565C0">
              <a:alpha val="95000"/>
            </a:srgbClr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8368" y="2944368"/>
            <a:ext cx="10415016" cy="530352"/>
          </a:xfrm>
          <a:prstGeom prst="rect">
            <a:avLst/>
          </a:prstGeom>
          <a:solidFill>
            <a:srgbClr val="F6F9FB"/>
          </a:solidFill>
          <a:ln w="12700">
            <a:solidFill>
              <a:srgbClr val="F6F9F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8096" y="2999232"/>
            <a:ext cx="2340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231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Adaptive slides</a:t>
            </a:r>
            <a:endParaRPr lang="en-US" sz="1160" dirty="0"/>
          </a:p>
        </p:txBody>
      </p:sp>
      <p:sp>
        <p:nvSpPr>
          <p:cNvPr id="42" name="Shape 40"/>
          <p:cNvSpPr/>
          <p:nvPr/>
        </p:nvSpPr>
        <p:spPr>
          <a:xfrm>
            <a:off x="4203954" y="3054096"/>
            <a:ext cx="3831336" cy="292608"/>
          </a:xfrm>
          <a:prstGeom prst="roundRect">
            <a:avLst/>
          </a:prstGeom>
          <a:solidFill>
            <a:srgbClr val="6D5BD0">
              <a:alpha val="95000"/>
            </a:srgbClr>
          </a:solidFill>
          <a:ln w="12700">
            <a:solidFill>
              <a:srgbClr val="6D5BD0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8096" y="3529584"/>
            <a:ext cx="2340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231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Lab notebooks and solutions</a:t>
            </a:r>
            <a:endParaRPr lang="en-US" sz="1160" dirty="0"/>
          </a:p>
        </p:txBody>
      </p:sp>
      <p:sp>
        <p:nvSpPr>
          <p:cNvPr id="44" name="Shape 42"/>
          <p:cNvSpPr/>
          <p:nvPr/>
        </p:nvSpPr>
        <p:spPr>
          <a:xfrm>
            <a:off x="4203954" y="3584448"/>
            <a:ext cx="4816602" cy="292608"/>
          </a:xfrm>
          <a:prstGeom prst="roundRect">
            <a:avLst/>
          </a:prstGeom>
          <a:solidFill>
            <a:srgbClr val="1D8A83">
              <a:alpha val="95000"/>
            </a:srgbClr>
          </a:solidFill>
          <a:ln w="12700">
            <a:solidFill>
              <a:srgbClr val="1D8A83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8368" y="4005072"/>
            <a:ext cx="10415016" cy="530352"/>
          </a:xfrm>
          <a:prstGeom prst="rect">
            <a:avLst/>
          </a:prstGeom>
          <a:solidFill>
            <a:srgbClr val="F6F9FB"/>
          </a:solidFill>
          <a:ln w="12700">
            <a:solidFill>
              <a:srgbClr val="F6F9F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8096" y="4059936"/>
            <a:ext cx="2340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231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Live data and hardware</a:t>
            </a:r>
            <a:endParaRPr lang="en-US" sz="1160" dirty="0"/>
          </a:p>
        </p:txBody>
      </p:sp>
      <p:sp>
        <p:nvSpPr>
          <p:cNvPr id="47" name="Shape 45"/>
          <p:cNvSpPr/>
          <p:nvPr/>
        </p:nvSpPr>
        <p:spPr>
          <a:xfrm>
            <a:off x="4203954" y="4114800"/>
            <a:ext cx="4816602" cy="292608"/>
          </a:xfrm>
          <a:prstGeom prst="roundRect">
            <a:avLst/>
          </a:prstGeom>
          <a:solidFill>
            <a:srgbClr val="C68A17">
              <a:alpha val="95000"/>
            </a:srgbClr>
          </a:solidFill>
          <a:ln w="12700">
            <a:solidFill>
              <a:srgbClr val="C68A17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8096" y="4590288"/>
            <a:ext cx="2340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231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Integration and rehearsal</a:t>
            </a:r>
            <a:endParaRPr lang="en-US" sz="1160" dirty="0"/>
          </a:p>
        </p:txBody>
      </p:sp>
      <p:sp>
        <p:nvSpPr>
          <p:cNvPr id="49" name="Shape 47"/>
          <p:cNvSpPr/>
          <p:nvPr/>
        </p:nvSpPr>
        <p:spPr>
          <a:xfrm>
            <a:off x="7159752" y="4645152"/>
            <a:ext cx="2846070" cy="292608"/>
          </a:xfrm>
          <a:prstGeom prst="roundRect">
            <a:avLst/>
          </a:prstGeom>
          <a:solidFill>
            <a:srgbClr val="E24A33">
              <a:alpha val="95000"/>
            </a:srgbClr>
          </a:solidFill>
          <a:ln w="12700">
            <a:solidFill>
              <a:srgbClr val="E24A33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58368" y="5065776"/>
            <a:ext cx="10415016" cy="530352"/>
          </a:xfrm>
          <a:prstGeom prst="rect">
            <a:avLst/>
          </a:prstGeom>
          <a:solidFill>
            <a:srgbClr val="F6F9FB"/>
          </a:solidFill>
          <a:ln w="12700">
            <a:solidFill>
              <a:srgbClr val="F6F9F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8096" y="5120640"/>
            <a:ext cx="2340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231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Final polish and backup</a:t>
            </a:r>
            <a:endParaRPr lang="en-US" sz="1160" dirty="0"/>
          </a:p>
        </p:txBody>
      </p:sp>
      <p:sp>
        <p:nvSpPr>
          <p:cNvPr id="52" name="Shape 50"/>
          <p:cNvSpPr/>
          <p:nvPr/>
        </p:nvSpPr>
        <p:spPr>
          <a:xfrm>
            <a:off x="9130284" y="5175504"/>
            <a:ext cx="1860804" cy="292608"/>
          </a:xfrm>
          <a:prstGeom prst="roundRect">
            <a:avLst/>
          </a:prstGeom>
          <a:solidFill>
            <a:srgbClr val="102A43">
              <a:alpha val="95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134356" y="1847088"/>
            <a:ext cx="0" cy="3803904"/>
          </a:xfrm>
          <a:prstGeom prst="line">
            <a:avLst/>
          </a:prstGeom>
          <a:noFill/>
          <a:ln w="20320">
            <a:solidFill>
              <a:srgbClr val="1565C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070348" y="5641848"/>
            <a:ext cx="128016" cy="12801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77156" y="5797296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565C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Foundations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1565C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complete</a:t>
            </a:r>
            <a:endParaRPr lang="en-US" sz="940" dirty="0"/>
          </a:p>
        </p:txBody>
      </p:sp>
      <p:sp>
        <p:nvSpPr>
          <p:cNvPr id="56" name="Shape 54"/>
          <p:cNvSpPr/>
          <p:nvPr/>
        </p:nvSpPr>
        <p:spPr>
          <a:xfrm>
            <a:off x="8287207" y="1847088"/>
            <a:ext cx="0" cy="3803904"/>
          </a:xfrm>
          <a:prstGeom prst="line">
            <a:avLst/>
          </a:prstGeom>
          <a:noFill/>
          <a:ln w="20320">
            <a:solidFill>
              <a:srgbClr val="1D8A8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223199" y="5641848"/>
            <a:ext cx="128016" cy="128016"/>
          </a:xfrm>
          <a:prstGeom prst="ellipse">
            <a:avLst/>
          </a:prstGeom>
          <a:solidFill>
            <a:srgbClr val="1D8A83"/>
          </a:solidFill>
          <a:ln w="12700">
            <a:solidFill>
              <a:srgbClr val="1D8A8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830007" y="5797296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D8A8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All labs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1D8A8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runnable</a:t>
            </a:r>
            <a:endParaRPr lang="en-US" sz="940" dirty="0"/>
          </a:p>
        </p:txBody>
      </p:sp>
      <p:sp>
        <p:nvSpPr>
          <p:cNvPr id="59" name="Shape 57"/>
          <p:cNvSpPr/>
          <p:nvPr/>
        </p:nvSpPr>
        <p:spPr>
          <a:xfrm>
            <a:off x="10109949" y="1847088"/>
            <a:ext cx="0" cy="3803904"/>
          </a:xfrm>
          <a:prstGeom prst="line">
            <a:avLst/>
          </a:prstGeom>
          <a:noFill/>
          <a:ln w="20320">
            <a:solidFill>
              <a:srgbClr val="E24A3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045941" y="5641848"/>
            <a:ext cx="128016" cy="128016"/>
          </a:xfrm>
          <a:prstGeom prst="ellipse">
            <a:avLst/>
          </a:prstGeom>
          <a:solidFill>
            <a:srgbClr val="E24A33"/>
          </a:solidFill>
          <a:ln w="12700">
            <a:solidFill>
              <a:srgbClr val="E24A3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652749" y="5797296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E24A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Final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E24A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freeze</a:t>
            </a:r>
            <a:endParaRPr lang="en-US" sz="940" dirty="0"/>
          </a:p>
        </p:txBody>
      </p:sp>
      <p:sp>
        <p:nvSpPr>
          <p:cNvPr id="62" name="Shape 60"/>
          <p:cNvSpPr/>
          <p:nvPr/>
        </p:nvSpPr>
        <p:spPr>
          <a:xfrm>
            <a:off x="10972800" y="1682496"/>
            <a:ext cx="676656" cy="3931920"/>
          </a:xfrm>
          <a:prstGeom prst="roundRect">
            <a:avLst>
              <a:gd name="adj" fmla="val 1351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1000232" y="1956816"/>
            <a:ext cx="621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OCT</a:t>
            </a:r>
            <a:endParaRPr lang="en-US" sz="1750" dirty="0"/>
          </a:p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22</a:t>
            </a:r>
            <a:endParaRPr lang="en-US" sz="1750" dirty="0"/>
          </a:p>
        </p:txBody>
      </p:sp>
      <p:sp>
        <p:nvSpPr>
          <p:cNvPr id="64" name="Text 62"/>
          <p:cNvSpPr/>
          <p:nvPr/>
        </p:nvSpPr>
        <p:spPr>
          <a:xfrm>
            <a:off x="10981944" y="281635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spc="10" kern="0" dirty="0">
                <a:solidFill>
                  <a:srgbClr val="C9DA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TUTORIAL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11311128" y="3273552"/>
            <a:ext cx="0" cy="1417320"/>
          </a:xfrm>
          <a:prstGeom prst="line">
            <a:avLst/>
          </a:prstGeom>
          <a:noFill/>
          <a:ln w="27940">
            <a:solidFill>
              <a:srgbClr val="00A8C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1219688" y="4681728"/>
            <a:ext cx="182880" cy="182880"/>
          </a:xfrm>
          <a:prstGeom prst="ellipse">
            <a:avLst/>
          </a:prstGeom>
          <a:solidFill>
            <a:srgbClr val="00A8C6"/>
          </a:solidFill>
          <a:ln w="12700">
            <a:solidFill>
              <a:srgbClr val="00A8C6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02A4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Decisions needed today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630936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spc="180" kern="0" dirty="0">
                <a:solidFill>
                  <a:srgbClr val="00A8C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MEETING OUTCOME</a:t>
            </a:r>
            <a:endParaRPr lang="en-US" sz="860" dirty="0"/>
          </a:p>
        </p:txBody>
      </p:sp>
      <p:sp>
        <p:nvSpPr>
          <p:cNvPr id="4" name="Shape 2"/>
          <p:cNvSpPr/>
          <p:nvPr/>
        </p:nvSpPr>
        <p:spPr>
          <a:xfrm>
            <a:off x="621792" y="932688"/>
            <a:ext cx="10927080" cy="0"/>
          </a:xfrm>
          <a:prstGeom prst="line">
            <a:avLst/>
          </a:prstGeom>
          <a:noFill/>
          <a:ln w="14605">
            <a:solidFill>
              <a:srgbClr val="E9F0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932688"/>
            <a:ext cx="1874520" cy="0"/>
          </a:xfrm>
          <a:prstGeom prst="line">
            <a:avLst/>
          </a:prstGeom>
          <a:noFill/>
          <a:ln w="31750">
            <a:solidFill>
              <a:srgbClr val="00A8C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0" y="576072"/>
            <a:ext cx="68580" cy="68580"/>
          </a:xfrm>
          <a:prstGeom prst="ellipse">
            <a:avLst/>
          </a:prstGeom>
          <a:solidFill>
            <a:srgbClr val="102A43">
              <a:alpha val="74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37776" y="576072"/>
            <a:ext cx="68580" cy="68580"/>
          </a:xfrm>
          <a:prstGeom prst="ellipse">
            <a:avLst/>
          </a:prstGeom>
          <a:solidFill>
            <a:srgbClr val="102A43">
              <a:alpha val="74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57232" y="576072"/>
            <a:ext cx="68580" cy="68580"/>
          </a:xfrm>
          <a:prstGeom prst="ellipse">
            <a:avLst/>
          </a:prstGeom>
          <a:solidFill>
            <a:srgbClr val="102A43">
              <a:alpha val="74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76688" y="576072"/>
            <a:ext cx="68580" cy="68580"/>
          </a:xfrm>
          <a:prstGeom prst="ellipse">
            <a:avLst/>
          </a:prstGeom>
          <a:solidFill>
            <a:srgbClr val="102A43">
              <a:alpha val="74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96144" y="576072"/>
            <a:ext cx="68580" cy="68580"/>
          </a:xfrm>
          <a:prstGeom prst="ellipse">
            <a:avLst/>
          </a:prstGeom>
          <a:solidFill>
            <a:srgbClr val="102A43">
              <a:alpha val="74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0" y="576072"/>
            <a:ext cx="68580" cy="68580"/>
          </a:xfrm>
          <a:prstGeom prst="ellipse">
            <a:avLst/>
          </a:prstGeom>
          <a:solidFill>
            <a:srgbClr val="00A8C6"/>
          </a:solidFill>
          <a:ln w="12700">
            <a:solidFill>
              <a:srgbClr val="00A8C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35056" y="576072"/>
            <a:ext cx="68580" cy="68580"/>
          </a:xfrm>
          <a:prstGeom prst="ellipse">
            <a:avLst/>
          </a:prstGeom>
          <a:solidFill>
            <a:srgbClr val="102A43">
              <a:alpha val="74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54512" y="576072"/>
            <a:ext cx="68580" cy="68580"/>
          </a:xfrm>
          <a:prstGeom prst="ellipse">
            <a:avLst/>
          </a:prstGeom>
          <a:solidFill>
            <a:srgbClr val="102A43">
              <a:alpha val="74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52176" y="612648"/>
            <a:ext cx="1234440" cy="-329184"/>
          </a:xfrm>
          <a:prstGeom prst="line">
            <a:avLst/>
          </a:prstGeom>
          <a:noFill/>
          <a:ln w="21590">
            <a:solidFill>
              <a:srgbClr val="00A8C6">
                <a:alpha val="8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12471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9B7C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08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1792" y="647395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A9B7C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Adaptive Beamforming Made Practical</a:t>
            </a:r>
            <a:endParaRPr lang="en-US" sz="830" dirty="0"/>
          </a:p>
        </p:txBody>
      </p:sp>
      <p:sp>
        <p:nvSpPr>
          <p:cNvPr id="17" name="Text 15"/>
          <p:cNvSpPr/>
          <p:nvPr/>
        </p:nvSpPr>
        <p:spPr>
          <a:xfrm>
            <a:off x="621792" y="1097280"/>
            <a:ext cx="10789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78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goal for this meeting is to leave with a locked first pass scope, clear ownership, and dates.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58368" y="1737360"/>
            <a:ext cx="7644384" cy="658368"/>
          </a:xfrm>
          <a:prstGeom prst="roundRect">
            <a:avLst>
              <a:gd name="adj" fmla="val 13889"/>
            </a:avLst>
          </a:prstGeom>
          <a:solidFill>
            <a:srgbClr val="F2FBFC"/>
          </a:solidFill>
          <a:ln w="12700">
            <a:solidFill>
              <a:srgbClr val="E9F0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189280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00A8C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240" dirty="0"/>
          </a:p>
        </p:txBody>
      </p:sp>
      <p:sp>
        <p:nvSpPr>
          <p:cNvPr id="20" name="Text 18"/>
          <p:cNvSpPr/>
          <p:nvPr/>
        </p:nvSpPr>
        <p:spPr>
          <a:xfrm>
            <a:off x="1371600" y="1837944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Learning arc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2889504" y="1819656"/>
            <a:ext cx="508406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231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Confirm: array intuition  →  data and linear algebra  →  Fourier viewpoint  →  fixed beam limits  →  adaptive beamforming</a:t>
            </a:r>
            <a:endParaRPr lang="en-US" sz="1160" dirty="0"/>
          </a:p>
        </p:txBody>
      </p:sp>
      <p:sp>
        <p:nvSpPr>
          <p:cNvPr id="22" name="Shape 20"/>
          <p:cNvSpPr/>
          <p:nvPr/>
        </p:nvSpPr>
        <p:spPr>
          <a:xfrm>
            <a:off x="658368" y="2560320"/>
            <a:ext cx="7644384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9F0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9536" y="271576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00A8C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240" dirty="0"/>
          </a:p>
        </p:txBody>
      </p:sp>
      <p:sp>
        <p:nvSpPr>
          <p:cNvPr id="24" name="Text 22"/>
          <p:cNvSpPr/>
          <p:nvPr/>
        </p:nvSpPr>
        <p:spPr>
          <a:xfrm>
            <a:off x="1371600" y="2660904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Algorithm scope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2889504" y="2642616"/>
            <a:ext cx="508406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231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Confirm depth and order for MVDR / LCMV, SLC, LMS, and RLS. Decide what is explicitly out of scope.</a:t>
            </a:r>
            <a:endParaRPr lang="en-US" sz="1160" dirty="0"/>
          </a:p>
        </p:txBody>
      </p:sp>
      <p:sp>
        <p:nvSpPr>
          <p:cNvPr id="26" name="Shape 24"/>
          <p:cNvSpPr/>
          <p:nvPr/>
        </p:nvSpPr>
        <p:spPr>
          <a:xfrm>
            <a:off x="658368" y="3383280"/>
            <a:ext cx="7644384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9F0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9536" y="353872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00A8C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240" dirty="0"/>
          </a:p>
        </p:txBody>
      </p:sp>
      <p:sp>
        <p:nvSpPr>
          <p:cNvPr id="28" name="Text 26"/>
          <p:cNvSpPr/>
          <p:nvPr/>
        </p:nvSpPr>
        <p:spPr>
          <a:xfrm>
            <a:off x="1371600" y="3483864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Lab strategy</a:t>
            </a:r>
            <a:endParaRPr lang="en-US" sz="1320" dirty="0"/>
          </a:p>
        </p:txBody>
      </p:sp>
      <p:sp>
        <p:nvSpPr>
          <p:cNvPr id="29" name="Text 27"/>
          <p:cNvSpPr/>
          <p:nvPr/>
        </p:nvSpPr>
        <p:spPr>
          <a:xfrm>
            <a:off x="2889504" y="3465576"/>
            <a:ext cx="508406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231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Confirm three levels with 2 or 3 exercises each, and a common notebook structure across algorithms.</a:t>
            </a:r>
            <a:endParaRPr lang="en-US" sz="1160" dirty="0"/>
          </a:p>
        </p:txBody>
      </p:sp>
      <p:sp>
        <p:nvSpPr>
          <p:cNvPr id="30" name="Shape 28"/>
          <p:cNvSpPr/>
          <p:nvPr/>
        </p:nvSpPr>
        <p:spPr>
          <a:xfrm>
            <a:off x="658368" y="4206240"/>
            <a:ext cx="7644384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9F0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9536" y="436168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00A8C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</a:t>
            </a:r>
            <a:endParaRPr lang="en-US" sz="1240" dirty="0"/>
          </a:p>
        </p:txBody>
      </p:sp>
      <p:sp>
        <p:nvSpPr>
          <p:cNvPr id="32" name="Text 30"/>
          <p:cNvSpPr/>
          <p:nvPr/>
        </p:nvSpPr>
        <p:spPr>
          <a:xfrm>
            <a:off x="1371600" y="4306824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 strategy</a:t>
            </a:r>
            <a:endParaRPr lang="en-US" sz="1320" dirty="0"/>
          </a:p>
        </p:txBody>
      </p:sp>
      <p:sp>
        <p:nvSpPr>
          <p:cNvPr id="33" name="Text 31"/>
          <p:cNvSpPr/>
          <p:nvPr/>
        </p:nvSpPr>
        <p:spPr>
          <a:xfrm>
            <a:off x="2889504" y="4288536"/>
            <a:ext cx="508406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231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Decide the live classroom acquisition path and the recorded fallback dataset that mirrors it.</a:t>
            </a:r>
            <a:endParaRPr lang="en-US" sz="1160" dirty="0"/>
          </a:p>
        </p:txBody>
      </p:sp>
      <p:sp>
        <p:nvSpPr>
          <p:cNvPr id="34" name="Shape 32"/>
          <p:cNvSpPr/>
          <p:nvPr/>
        </p:nvSpPr>
        <p:spPr>
          <a:xfrm>
            <a:off x="658368" y="5029200"/>
            <a:ext cx="7644384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9F0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9536" y="518464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00A8C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05</a:t>
            </a:r>
            <a:endParaRPr lang="en-US" sz="1240" dirty="0"/>
          </a:p>
        </p:txBody>
      </p:sp>
      <p:sp>
        <p:nvSpPr>
          <p:cNvPr id="36" name="Text 34"/>
          <p:cNvSpPr/>
          <p:nvPr/>
        </p:nvSpPr>
        <p:spPr>
          <a:xfrm>
            <a:off x="1371600" y="5129784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Ownership</a:t>
            </a:r>
            <a:endParaRPr lang="en-US" sz="1320" dirty="0"/>
          </a:p>
        </p:txBody>
      </p:sp>
      <p:sp>
        <p:nvSpPr>
          <p:cNvPr id="37" name="Text 35"/>
          <p:cNvSpPr/>
          <p:nvPr/>
        </p:nvSpPr>
        <p:spPr>
          <a:xfrm>
            <a:off x="2889504" y="5111496"/>
            <a:ext cx="508406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231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Assign one owner and one reviewer to each workstream and major tutorial module.</a:t>
            </a:r>
            <a:endParaRPr lang="en-US" sz="1160" dirty="0"/>
          </a:p>
        </p:txBody>
      </p:sp>
      <p:sp>
        <p:nvSpPr>
          <p:cNvPr id="38" name="Shape 36"/>
          <p:cNvSpPr/>
          <p:nvPr/>
        </p:nvSpPr>
        <p:spPr>
          <a:xfrm>
            <a:off x="8650224" y="1737360"/>
            <a:ext cx="2871216" cy="3950208"/>
          </a:xfrm>
          <a:prstGeom prst="roundRect">
            <a:avLst>
              <a:gd name="adj" fmla="val 509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  <a:effectLst>
            <a:outerShdw sx="100000" sy="100000" kx="0" ky="0" algn="bl" rotWithShape="0" blurRad="6.86990599436516e+65" dist="2.747962397746065e+65" dir="1.2694994583552002e+78">
              <a:srgbClr val="000000">
                <a:alpha val="1.2000000000000001e+79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961120" y="2011680"/>
            <a:ext cx="1700784" cy="310896"/>
          </a:xfrm>
          <a:prstGeom prst="roundRect">
            <a:avLst/>
          </a:prstGeom>
          <a:solidFill>
            <a:srgbClr val="00A8C6"/>
          </a:solidFill>
          <a:ln w="12700">
            <a:solidFill>
              <a:srgbClr val="00A8C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961120" y="2020824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MEETING OUTPUT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961120" y="2542032"/>
            <a:ext cx="2231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By the end of today</a:t>
            </a:r>
            <a:endParaRPr lang="en-US" sz="1820" dirty="0"/>
          </a:p>
        </p:txBody>
      </p:sp>
      <p:sp>
        <p:nvSpPr>
          <p:cNvPr id="42" name="Text 40"/>
          <p:cNvSpPr/>
          <p:nvPr/>
        </p:nvSpPr>
        <p:spPr>
          <a:xfrm>
            <a:off x="8979408" y="3136392"/>
            <a:ext cx="2167128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7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First pass outline is frozen</a:t>
            </a:r>
            <a:endParaRPr lang="en-US" sz="1270" dirty="0"/>
          </a:p>
          <a:p>
            <a:pPr marL="165100" indent="-165100">
              <a:buSzPct val="100000"/>
              <a:buChar char="•"/>
            </a:pPr>
            <a:r>
              <a:rPr lang="en-US" sz="127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Module owners are assigned</a:t>
            </a:r>
            <a:endParaRPr lang="en-US" sz="1270" dirty="0"/>
          </a:p>
          <a:p>
            <a:pPr marL="165100" indent="-165100">
              <a:buSzPct val="100000"/>
              <a:buChar char="•"/>
            </a:pPr>
            <a:r>
              <a:rPr lang="en-US" sz="127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Lab template is agreed</a:t>
            </a:r>
            <a:endParaRPr lang="en-US" sz="1270" dirty="0"/>
          </a:p>
          <a:p>
            <a:pPr marL="165100" indent="-165100">
              <a:buSzPct val="100000"/>
              <a:buChar char="•"/>
            </a:pPr>
            <a:r>
              <a:rPr lang="en-US" sz="127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Milestone dates are accepted</a:t>
            </a:r>
            <a:endParaRPr lang="en-US" sz="1270" dirty="0"/>
          </a:p>
        </p:txBody>
      </p:sp>
      <p:sp>
        <p:nvSpPr>
          <p:cNvPr id="43" name="Shape 41"/>
          <p:cNvSpPr/>
          <p:nvPr/>
        </p:nvSpPr>
        <p:spPr>
          <a:xfrm>
            <a:off x="8997696" y="5029200"/>
            <a:ext cx="2139696" cy="0"/>
          </a:xfrm>
          <a:prstGeom prst="line">
            <a:avLst/>
          </a:prstGeom>
          <a:noFill/>
          <a:ln w="12700">
            <a:solidFill>
              <a:srgbClr val="58738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988552" y="5084064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BED2E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Next internal checkpoint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942832" y="530352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Foundations module + one complete lab</a:t>
            </a:r>
            <a:endParaRPr lang="en-US" sz="1030" dirty="0"/>
          </a:p>
        </p:txBody>
      </p:sp>
      <p:sp>
        <p:nvSpPr>
          <p:cNvPr id="46" name="Text 44"/>
          <p:cNvSpPr/>
          <p:nvPr/>
        </p:nvSpPr>
        <p:spPr>
          <a:xfrm>
            <a:off x="658368" y="6035040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00A8C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Proposed default</a:t>
            </a:r>
            <a:endParaRPr lang="en-US" sz="1030" dirty="0"/>
          </a:p>
        </p:txBody>
      </p:sp>
      <p:sp>
        <p:nvSpPr>
          <p:cNvPr id="47" name="Text 45"/>
          <p:cNvSpPr/>
          <p:nvPr/>
        </p:nvSpPr>
        <p:spPr>
          <a:xfrm>
            <a:off x="1865376" y="5980176"/>
            <a:ext cx="6419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6678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Keep the scope narrow enough that participants can actually build, run, and interpret the algorithms during the session.</a:t>
            </a:r>
            <a:endParaRPr lang="en-US" sz="12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Beamforming Made Practical</dc:title>
  <dc:subject>Adaptive Beamforming Made Practical team work plan</dc:subject>
  <dc:creator>OpenAI</dc:creator>
  <cp:lastModifiedBy>OpenAI</cp:lastModifiedBy>
  <cp:revision>1</cp:revision>
  <dcterms:created xsi:type="dcterms:W3CDTF">2026-08-27T17:04:46Z</dcterms:created>
  <dcterms:modified xsi:type="dcterms:W3CDTF">2026-08-27T17:04:46Z</dcterms:modified>
</cp:coreProperties>
</file>